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Times New Roman Bold" charset="1" panose="02020803070505020304"/>
      <p:regular r:id="rId18"/>
    </p:embeddedFont>
    <p:embeddedFont>
      <p:font typeface="Times New Roman" charset="1" panose="020206030504050203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2813980"/>
            <a:chOff x="0" y="0"/>
            <a:chExt cx="24402453" cy="3751974"/>
          </a:xfrm>
        </p:grpSpPr>
        <p:sp>
          <p:nvSpPr>
            <p:cNvPr name="Freeform 3" id="3" descr="template_header.png"/>
            <p:cNvSpPr/>
            <p:nvPr/>
          </p:nvSpPr>
          <p:spPr>
            <a:xfrm flipH="false" flipV="false" rot="0">
              <a:off x="0" y="0"/>
              <a:ext cx="24402414" cy="3751961"/>
            </a:xfrm>
            <a:custGeom>
              <a:avLst/>
              <a:gdLst/>
              <a:ahLst/>
              <a:cxnLst/>
              <a:rect r="r" b="b" t="t" l="l"/>
              <a:pathLst>
                <a:path h="3751961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3751961"/>
                  </a:lnTo>
                  <a:lnTo>
                    <a:pt x="0" y="37519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6" r="0" b="-29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622431"/>
            <a:ext cx="18301840" cy="672608"/>
            <a:chOff x="0" y="0"/>
            <a:chExt cx="24402453" cy="896810"/>
          </a:xfrm>
        </p:grpSpPr>
        <p:sp>
          <p:nvSpPr>
            <p:cNvPr name="Freeform 5" id="5" descr="template_footer.png"/>
            <p:cNvSpPr/>
            <p:nvPr/>
          </p:nvSpPr>
          <p:spPr>
            <a:xfrm flipH="false" flipV="false" rot="0">
              <a:off x="0" y="0"/>
              <a:ext cx="24402414" cy="896874"/>
            </a:xfrm>
            <a:custGeom>
              <a:avLst/>
              <a:gdLst/>
              <a:ahLst/>
              <a:cxnLst/>
              <a:rect r="r" b="b" t="t" l="l"/>
              <a:pathLst>
                <a:path h="896874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896874"/>
                  </a:lnTo>
                  <a:lnTo>
                    <a:pt x="0" y="896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14" t="0" r="-115" b="7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555661" y="2831125"/>
            <a:ext cx="15145226" cy="623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3"/>
              </a:lnSpc>
            </a:pPr>
            <a:r>
              <a:rPr lang="en-US" sz="3752" b="true">
                <a:solidFill>
                  <a:srgbClr val="1E375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S.Y. Mini Project Presentation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18396" y="3526984"/>
            <a:ext cx="15419756" cy="819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3"/>
              </a:lnSpc>
            </a:pPr>
            <a:r>
              <a:rPr lang="en-US" sz="4203" b="true">
                <a:solidFill>
                  <a:srgbClr val="BE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“Pulse Price Volatility Analyzer”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30191" y="4487856"/>
            <a:ext cx="14596158" cy="1300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Applies Java Sorting and Searching Algorithms to Identify and Flag</a:t>
            </a:r>
          </a:p>
          <a:p>
            <a:pPr algn="ctr">
              <a:lnSpc>
                <a:spcPts val="3242"/>
              </a:lnSpc>
            </a:pPr>
            <a:r>
              <a:rPr lang="en-US" sz="2702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Abnormal Wholesale Price Fluctuations in Grain Markets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644157" y="6135062"/>
            <a:ext cx="4987452" cy="40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 b="true">
                <a:solidFill>
                  <a:srgbClr val="19191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Guide: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933811" y="6138202"/>
            <a:ext cx="2248848" cy="428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Pradhya Jadhav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341956" y="6728730"/>
            <a:ext cx="1591855" cy="428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 b="true">
                <a:solidFill>
                  <a:srgbClr val="19191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Group No: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933811" y="6728730"/>
            <a:ext cx="3614776" cy="40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[Group No.]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742308" y="7509758"/>
            <a:ext cx="6771923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2551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Thanki Aditya Harish </a:t>
            </a:r>
            <a:r>
              <a:rPr lang="en-US" sz="2551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(Roll No.48 )</a:t>
            </a:r>
          </a:p>
          <a:p>
            <a:pPr algn="ctr">
              <a:lnSpc>
                <a:spcPts val="3062"/>
              </a:lnSpc>
            </a:pPr>
            <a:r>
              <a:rPr lang="en-US" sz="2551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Darsh Ved  (Roll No.55)</a:t>
            </a:r>
          </a:p>
          <a:p>
            <a:pPr algn="ctr">
              <a:lnSpc>
                <a:spcPts val="3062"/>
              </a:lnSpc>
            </a:pPr>
            <a:r>
              <a:rPr lang="en-US" sz="2551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[Name 3] (Roll No.__)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2813980"/>
            <a:chOff x="0" y="0"/>
            <a:chExt cx="24402453" cy="3751974"/>
          </a:xfrm>
        </p:grpSpPr>
        <p:sp>
          <p:nvSpPr>
            <p:cNvPr name="Freeform 3" id="3" descr="template_header.png"/>
            <p:cNvSpPr/>
            <p:nvPr/>
          </p:nvSpPr>
          <p:spPr>
            <a:xfrm flipH="false" flipV="false" rot="0">
              <a:off x="0" y="0"/>
              <a:ext cx="24402414" cy="3751961"/>
            </a:xfrm>
            <a:custGeom>
              <a:avLst/>
              <a:gdLst/>
              <a:ahLst/>
              <a:cxnLst/>
              <a:rect r="r" b="b" t="t" l="l"/>
              <a:pathLst>
                <a:path h="3751961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3751961"/>
                  </a:lnTo>
                  <a:lnTo>
                    <a:pt x="0" y="37519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6" r="0" b="-29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622431"/>
            <a:ext cx="18301840" cy="672608"/>
            <a:chOff x="0" y="0"/>
            <a:chExt cx="24402453" cy="896810"/>
          </a:xfrm>
        </p:grpSpPr>
        <p:sp>
          <p:nvSpPr>
            <p:cNvPr name="Freeform 5" id="5" descr="template_footer.png"/>
            <p:cNvSpPr/>
            <p:nvPr/>
          </p:nvSpPr>
          <p:spPr>
            <a:xfrm flipH="false" flipV="false" rot="0">
              <a:off x="0" y="0"/>
              <a:ext cx="24402414" cy="896874"/>
            </a:xfrm>
            <a:custGeom>
              <a:avLst/>
              <a:gdLst/>
              <a:ahLst/>
              <a:cxnLst/>
              <a:rect r="r" b="b" t="t" l="l"/>
              <a:pathLst>
                <a:path h="896874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896874"/>
                  </a:lnTo>
                  <a:lnTo>
                    <a:pt x="0" y="896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14" t="0" r="-115" b="7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983675" y="2556586"/>
            <a:ext cx="16289188" cy="692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3"/>
              </a:lnSpc>
            </a:pPr>
            <a:r>
              <a:rPr lang="en-US" sz="3752" b="true">
                <a:solidFill>
                  <a:srgbClr val="1E375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Contents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738676" y="3356372"/>
            <a:ext cx="1591923" cy="562413"/>
            <a:chOff x="0" y="0"/>
            <a:chExt cx="2122564" cy="7498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22551" cy="749935"/>
            </a:xfrm>
            <a:custGeom>
              <a:avLst/>
              <a:gdLst/>
              <a:ahLst/>
              <a:cxnLst/>
              <a:rect r="r" b="b" t="t" l="l"/>
              <a:pathLst>
                <a:path h="749935" w="2122551">
                  <a:moveTo>
                    <a:pt x="0" y="0"/>
                  </a:moveTo>
                  <a:lnTo>
                    <a:pt x="2122551" y="0"/>
                  </a:lnTo>
                  <a:lnTo>
                    <a:pt x="2122551" y="749935"/>
                  </a:lnTo>
                  <a:lnTo>
                    <a:pt x="0" y="749935"/>
                  </a:lnTo>
                  <a:close/>
                </a:path>
              </a:pathLst>
            </a:custGeom>
            <a:solidFill>
              <a:srgbClr val="FFFFFF"/>
            </a:solidFill>
            <a:ln w="13345" cap="sq">
              <a:solidFill>
                <a:srgbClr val="969696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2900877" y="3444621"/>
            <a:ext cx="1267501" cy="40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4317244" y="3356372"/>
            <a:ext cx="7288511" cy="562413"/>
            <a:chOff x="0" y="0"/>
            <a:chExt cx="9718015" cy="74988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718040" cy="749935"/>
            </a:xfrm>
            <a:custGeom>
              <a:avLst/>
              <a:gdLst/>
              <a:ahLst/>
              <a:cxnLst/>
              <a:rect r="r" b="b" t="t" l="l"/>
              <a:pathLst>
                <a:path h="749935" w="9718040">
                  <a:moveTo>
                    <a:pt x="0" y="0"/>
                  </a:moveTo>
                  <a:lnTo>
                    <a:pt x="9718040" y="0"/>
                  </a:lnTo>
                  <a:lnTo>
                    <a:pt x="9718040" y="749935"/>
                  </a:lnTo>
                  <a:lnTo>
                    <a:pt x="0" y="749935"/>
                  </a:lnTo>
                  <a:close/>
                </a:path>
              </a:pathLst>
            </a:custGeom>
            <a:solidFill>
              <a:srgbClr val="FFFFFF"/>
            </a:solidFill>
            <a:ln w="13345" cap="sq">
              <a:solidFill>
                <a:srgbClr val="969696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4479455" y="3444621"/>
            <a:ext cx="6964099" cy="40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2738676" y="3905440"/>
            <a:ext cx="1591923" cy="562413"/>
            <a:chOff x="0" y="0"/>
            <a:chExt cx="2122564" cy="74988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22551" cy="749935"/>
            </a:xfrm>
            <a:custGeom>
              <a:avLst/>
              <a:gdLst/>
              <a:ahLst/>
              <a:cxnLst/>
              <a:rect r="r" b="b" t="t" l="l"/>
              <a:pathLst>
                <a:path h="749935" w="2122551">
                  <a:moveTo>
                    <a:pt x="0" y="0"/>
                  </a:moveTo>
                  <a:lnTo>
                    <a:pt x="2122551" y="0"/>
                  </a:lnTo>
                  <a:lnTo>
                    <a:pt x="2122551" y="749935"/>
                  </a:lnTo>
                  <a:lnTo>
                    <a:pt x="0" y="749935"/>
                  </a:lnTo>
                  <a:close/>
                </a:path>
              </a:pathLst>
            </a:custGeom>
            <a:solidFill>
              <a:srgbClr val="FFFFFF"/>
            </a:solidFill>
            <a:ln w="13345" cap="sq">
              <a:solidFill>
                <a:srgbClr val="969696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2900877" y="3993690"/>
            <a:ext cx="1267501" cy="40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4317244" y="3905440"/>
            <a:ext cx="7288511" cy="562413"/>
            <a:chOff x="0" y="0"/>
            <a:chExt cx="9718015" cy="74988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718040" cy="749935"/>
            </a:xfrm>
            <a:custGeom>
              <a:avLst/>
              <a:gdLst/>
              <a:ahLst/>
              <a:cxnLst/>
              <a:rect r="r" b="b" t="t" l="l"/>
              <a:pathLst>
                <a:path h="749935" w="9718040">
                  <a:moveTo>
                    <a:pt x="0" y="0"/>
                  </a:moveTo>
                  <a:lnTo>
                    <a:pt x="9718040" y="0"/>
                  </a:lnTo>
                  <a:lnTo>
                    <a:pt x="9718040" y="749935"/>
                  </a:lnTo>
                  <a:lnTo>
                    <a:pt x="0" y="749935"/>
                  </a:lnTo>
                  <a:close/>
                </a:path>
              </a:pathLst>
            </a:custGeom>
            <a:solidFill>
              <a:srgbClr val="FFFFFF"/>
            </a:solidFill>
            <a:ln w="13345" cap="sq">
              <a:solidFill>
                <a:srgbClr val="969696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4479455" y="3993690"/>
            <a:ext cx="6964099" cy="40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2738676" y="4454509"/>
            <a:ext cx="1591923" cy="562413"/>
            <a:chOff x="0" y="0"/>
            <a:chExt cx="2122564" cy="74988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22551" cy="749935"/>
            </a:xfrm>
            <a:custGeom>
              <a:avLst/>
              <a:gdLst/>
              <a:ahLst/>
              <a:cxnLst/>
              <a:rect r="r" b="b" t="t" l="l"/>
              <a:pathLst>
                <a:path h="749935" w="2122551">
                  <a:moveTo>
                    <a:pt x="0" y="0"/>
                  </a:moveTo>
                  <a:lnTo>
                    <a:pt x="2122551" y="0"/>
                  </a:lnTo>
                  <a:lnTo>
                    <a:pt x="2122551" y="749935"/>
                  </a:lnTo>
                  <a:lnTo>
                    <a:pt x="0" y="749935"/>
                  </a:lnTo>
                  <a:close/>
                </a:path>
              </a:pathLst>
            </a:custGeom>
            <a:solidFill>
              <a:srgbClr val="FFFFFF"/>
            </a:solidFill>
            <a:ln w="13345" cap="sq">
              <a:solidFill>
                <a:srgbClr val="969696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2900877" y="4542758"/>
            <a:ext cx="1267501" cy="40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4317244" y="4454509"/>
            <a:ext cx="7288511" cy="562413"/>
            <a:chOff x="0" y="0"/>
            <a:chExt cx="9718015" cy="74988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718040" cy="749935"/>
            </a:xfrm>
            <a:custGeom>
              <a:avLst/>
              <a:gdLst/>
              <a:ahLst/>
              <a:cxnLst/>
              <a:rect r="r" b="b" t="t" l="l"/>
              <a:pathLst>
                <a:path h="749935" w="9718040">
                  <a:moveTo>
                    <a:pt x="0" y="0"/>
                  </a:moveTo>
                  <a:lnTo>
                    <a:pt x="9718040" y="0"/>
                  </a:lnTo>
                  <a:lnTo>
                    <a:pt x="9718040" y="749935"/>
                  </a:lnTo>
                  <a:lnTo>
                    <a:pt x="0" y="749935"/>
                  </a:lnTo>
                  <a:close/>
                </a:path>
              </a:pathLst>
            </a:custGeom>
            <a:solidFill>
              <a:srgbClr val="FFFFFF"/>
            </a:solidFill>
            <a:ln w="13345" cap="sq">
              <a:solidFill>
                <a:srgbClr val="969696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4479455" y="4542758"/>
            <a:ext cx="6964099" cy="40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 Project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2738676" y="5003578"/>
            <a:ext cx="1591923" cy="562413"/>
            <a:chOff x="0" y="0"/>
            <a:chExt cx="2122564" cy="74988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22551" cy="749935"/>
            </a:xfrm>
            <a:custGeom>
              <a:avLst/>
              <a:gdLst/>
              <a:ahLst/>
              <a:cxnLst/>
              <a:rect r="r" b="b" t="t" l="l"/>
              <a:pathLst>
                <a:path h="749935" w="2122551">
                  <a:moveTo>
                    <a:pt x="0" y="0"/>
                  </a:moveTo>
                  <a:lnTo>
                    <a:pt x="2122551" y="0"/>
                  </a:lnTo>
                  <a:lnTo>
                    <a:pt x="2122551" y="749935"/>
                  </a:lnTo>
                  <a:lnTo>
                    <a:pt x="0" y="749935"/>
                  </a:lnTo>
                  <a:close/>
                </a:path>
              </a:pathLst>
            </a:custGeom>
            <a:solidFill>
              <a:srgbClr val="FFFFFF"/>
            </a:solidFill>
            <a:ln w="13345" cap="sq">
              <a:solidFill>
                <a:srgbClr val="969696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2900877" y="5091827"/>
            <a:ext cx="1267501" cy="40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4317244" y="5003578"/>
            <a:ext cx="7288511" cy="562413"/>
            <a:chOff x="0" y="0"/>
            <a:chExt cx="9718015" cy="74988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718040" cy="749935"/>
            </a:xfrm>
            <a:custGeom>
              <a:avLst/>
              <a:gdLst/>
              <a:ahLst/>
              <a:cxnLst/>
              <a:rect r="r" b="b" t="t" l="l"/>
              <a:pathLst>
                <a:path h="749935" w="9718040">
                  <a:moveTo>
                    <a:pt x="0" y="0"/>
                  </a:moveTo>
                  <a:lnTo>
                    <a:pt x="9718040" y="0"/>
                  </a:lnTo>
                  <a:lnTo>
                    <a:pt x="9718040" y="749935"/>
                  </a:lnTo>
                  <a:lnTo>
                    <a:pt x="0" y="749935"/>
                  </a:lnTo>
                  <a:close/>
                </a:path>
              </a:pathLst>
            </a:custGeom>
            <a:solidFill>
              <a:srgbClr val="FFFFFF"/>
            </a:solidFill>
            <a:ln w="13345" cap="sq">
              <a:solidFill>
                <a:srgbClr val="969696"/>
              </a:solidFill>
              <a:prstDash val="solid"/>
              <a:miter/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4479455" y="5091827"/>
            <a:ext cx="6964099" cy="40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2738676" y="5552646"/>
            <a:ext cx="1591923" cy="562413"/>
            <a:chOff x="0" y="0"/>
            <a:chExt cx="2122564" cy="74988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22551" cy="749935"/>
            </a:xfrm>
            <a:custGeom>
              <a:avLst/>
              <a:gdLst/>
              <a:ahLst/>
              <a:cxnLst/>
              <a:rect r="r" b="b" t="t" l="l"/>
              <a:pathLst>
                <a:path h="749935" w="2122551">
                  <a:moveTo>
                    <a:pt x="0" y="0"/>
                  </a:moveTo>
                  <a:lnTo>
                    <a:pt x="2122551" y="0"/>
                  </a:lnTo>
                  <a:lnTo>
                    <a:pt x="2122551" y="749935"/>
                  </a:lnTo>
                  <a:lnTo>
                    <a:pt x="0" y="749935"/>
                  </a:lnTo>
                  <a:close/>
                </a:path>
              </a:pathLst>
            </a:custGeom>
            <a:solidFill>
              <a:srgbClr val="FFFFFF"/>
            </a:solidFill>
            <a:ln w="13345" cap="sq">
              <a:solidFill>
                <a:srgbClr val="969696"/>
              </a:solidFill>
              <a:prstDash val="solid"/>
              <a:miter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2900877" y="5640896"/>
            <a:ext cx="1267501" cy="40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4317244" y="5552646"/>
            <a:ext cx="7288511" cy="562413"/>
            <a:chOff x="0" y="0"/>
            <a:chExt cx="9718015" cy="74988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718040" cy="749935"/>
            </a:xfrm>
            <a:custGeom>
              <a:avLst/>
              <a:gdLst/>
              <a:ahLst/>
              <a:cxnLst/>
              <a:rect r="r" b="b" t="t" l="l"/>
              <a:pathLst>
                <a:path h="749935" w="9718040">
                  <a:moveTo>
                    <a:pt x="0" y="0"/>
                  </a:moveTo>
                  <a:lnTo>
                    <a:pt x="9718040" y="0"/>
                  </a:lnTo>
                  <a:lnTo>
                    <a:pt x="9718040" y="749935"/>
                  </a:lnTo>
                  <a:lnTo>
                    <a:pt x="0" y="749935"/>
                  </a:lnTo>
                  <a:close/>
                </a:path>
              </a:pathLst>
            </a:custGeom>
            <a:solidFill>
              <a:srgbClr val="FFFFFF"/>
            </a:solidFill>
            <a:ln w="13345" cap="sq">
              <a:solidFill>
                <a:srgbClr val="969696"/>
              </a:solidFill>
              <a:prstDash val="solid"/>
              <a:miter/>
            </a:ln>
          </p:spPr>
        </p:sp>
      </p:grpSp>
      <p:sp>
        <p:nvSpPr>
          <p:cNvPr name="TextBox 36" id="36"/>
          <p:cNvSpPr txBox="true"/>
          <p:nvPr/>
        </p:nvSpPr>
        <p:spPr>
          <a:xfrm rot="0">
            <a:off x="4479455" y="5640896"/>
            <a:ext cx="6964099" cy="40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Expected Results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2738676" y="6101715"/>
            <a:ext cx="1591923" cy="562413"/>
            <a:chOff x="0" y="0"/>
            <a:chExt cx="2122564" cy="74988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22551" cy="749935"/>
            </a:xfrm>
            <a:custGeom>
              <a:avLst/>
              <a:gdLst/>
              <a:ahLst/>
              <a:cxnLst/>
              <a:rect r="r" b="b" t="t" l="l"/>
              <a:pathLst>
                <a:path h="749935" w="2122551">
                  <a:moveTo>
                    <a:pt x="0" y="0"/>
                  </a:moveTo>
                  <a:lnTo>
                    <a:pt x="2122551" y="0"/>
                  </a:lnTo>
                  <a:lnTo>
                    <a:pt x="2122551" y="749935"/>
                  </a:lnTo>
                  <a:lnTo>
                    <a:pt x="0" y="749935"/>
                  </a:lnTo>
                  <a:close/>
                </a:path>
              </a:pathLst>
            </a:custGeom>
            <a:solidFill>
              <a:srgbClr val="FFFFFF"/>
            </a:solidFill>
            <a:ln w="13345" cap="sq">
              <a:solidFill>
                <a:srgbClr val="969696"/>
              </a:solidFill>
              <a:prstDash val="solid"/>
              <a:miter/>
            </a:ln>
          </p:spPr>
        </p:sp>
      </p:grpSp>
      <p:sp>
        <p:nvSpPr>
          <p:cNvPr name="TextBox 39" id="39"/>
          <p:cNvSpPr txBox="true"/>
          <p:nvPr/>
        </p:nvSpPr>
        <p:spPr>
          <a:xfrm rot="0">
            <a:off x="2900877" y="6189974"/>
            <a:ext cx="1267501" cy="40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4317244" y="6101715"/>
            <a:ext cx="7288511" cy="562413"/>
            <a:chOff x="0" y="0"/>
            <a:chExt cx="9718015" cy="74988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718040" cy="749935"/>
            </a:xfrm>
            <a:custGeom>
              <a:avLst/>
              <a:gdLst/>
              <a:ahLst/>
              <a:cxnLst/>
              <a:rect r="r" b="b" t="t" l="l"/>
              <a:pathLst>
                <a:path h="749935" w="9718040">
                  <a:moveTo>
                    <a:pt x="0" y="0"/>
                  </a:moveTo>
                  <a:lnTo>
                    <a:pt x="9718040" y="0"/>
                  </a:lnTo>
                  <a:lnTo>
                    <a:pt x="9718040" y="749935"/>
                  </a:lnTo>
                  <a:lnTo>
                    <a:pt x="0" y="749935"/>
                  </a:lnTo>
                  <a:close/>
                </a:path>
              </a:pathLst>
            </a:custGeom>
            <a:solidFill>
              <a:srgbClr val="FFFFFF"/>
            </a:solidFill>
            <a:ln w="13345" cap="sq">
              <a:solidFill>
                <a:srgbClr val="969696"/>
              </a:solidFill>
              <a:prstDash val="solid"/>
              <a:miter/>
            </a:ln>
          </p:spPr>
        </p:sp>
      </p:grpSp>
      <p:sp>
        <p:nvSpPr>
          <p:cNvPr name="TextBox 42" id="42"/>
          <p:cNvSpPr txBox="true"/>
          <p:nvPr/>
        </p:nvSpPr>
        <p:spPr>
          <a:xfrm rot="0">
            <a:off x="4479455" y="6189974"/>
            <a:ext cx="6964099" cy="40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Applications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2738676" y="6650793"/>
            <a:ext cx="1591923" cy="562413"/>
            <a:chOff x="0" y="0"/>
            <a:chExt cx="2122564" cy="74988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122551" cy="749935"/>
            </a:xfrm>
            <a:custGeom>
              <a:avLst/>
              <a:gdLst/>
              <a:ahLst/>
              <a:cxnLst/>
              <a:rect r="r" b="b" t="t" l="l"/>
              <a:pathLst>
                <a:path h="749935" w="2122551">
                  <a:moveTo>
                    <a:pt x="0" y="0"/>
                  </a:moveTo>
                  <a:lnTo>
                    <a:pt x="2122551" y="0"/>
                  </a:lnTo>
                  <a:lnTo>
                    <a:pt x="2122551" y="749935"/>
                  </a:lnTo>
                  <a:lnTo>
                    <a:pt x="0" y="749935"/>
                  </a:lnTo>
                  <a:close/>
                </a:path>
              </a:pathLst>
            </a:custGeom>
            <a:solidFill>
              <a:srgbClr val="FFFFFF"/>
            </a:solidFill>
            <a:ln w="13345" cap="sq">
              <a:solidFill>
                <a:srgbClr val="969696"/>
              </a:solidFill>
              <a:prstDash val="solid"/>
              <a:miter/>
            </a:ln>
          </p:spPr>
        </p:sp>
      </p:grpSp>
      <p:sp>
        <p:nvSpPr>
          <p:cNvPr name="TextBox 45" id="45"/>
          <p:cNvSpPr txBox="true"/>
          <p:nvPr/>
        </p:nvSpPr>
        <p:spPr>
          <a:xfrm rot="0">
            <a:off x="2900877" y="6739042"/>
            <a:ext cx="1267501" cy="40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7.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4317244" y="6650793"/>
            <a:ext cx="7288511" cy="562413"/>
            <a:chOff x="0" y="0"/>
            <a:chExt cx="9718015" cy="74988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718040" cy="749935"/>
            </a:xfrm>
            <a:custGeom>
              <a:avLst/>
              <a:gdLst/>
              <a:ahLst/>
              <a:cxnLst/>
              <a:rect r="r" b="b" t="t" l="l"/>
              <a:pathLst>
                <a:path h="749935" w="9718040">
                  <a:moveTo>
                    <a:pt x="0" y="0"/>
                  </a:moveTo>
                  <a:lnTo>
                    <a:pt x="9718040" y="0"/>
                  </a:lnTo>
                  <a:lnTo>
                    <a:pt x="9718040" y="749935"/>
                  </a:lnTo>
                  <a:lnTo>
                    <a:pt x="0" y="749935"/>
                  </a:lnTo>
                  <a:close/>
                </a:path>
              </a:pathLst>
            </a:custGeom>
            <a:solidFill>
              <a:srgbClr val="FFFFFF"/>
            </a:solidFill>
            <a:ln w="13345" cap="sq">
              <a:solidFill>
                <a:srgbClr val="969696"/>
              </a:solidFill>
              <a:prstDash val="solid"/>
              <a:miter/>
            </a:ln>
          </p:spPr>
        </p:sp>
      </p:grpSp>
      <p:sp>
        <p:nvSpPr>
          <p:cNvPr name="TextBox 48" id="48"/>
          <p:cNvSpPr txBox="true"/>
          <p:nvPr/>
        </p:nvSpPr>
        <p:spPr>
          <a:xfrm rot="0">
            <a:off x="4479455" y="6739042"/>
            <a:ext cx="6964099" cy="40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2738676" y="7199862"/>
            <a:ext cx="1591923" cy="562413"/>
            <a:chOff x="0" y="0"/>
            <a:chExt cx="2122564" cy="74988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122551" cy="749935"/>
            </a:xfrm>
            <a:custGeom>
              <a:avLst/>
              <a:gdLst/>
              <a:ahLst/>
              <a:cxnLst/>
              <a:rect r="r" b="b" t="t" l="l"/>
              <a:pathLst>
                <a:path h="749935" w="2122551">
                  <a:moveTo>
                    <a:pt x="0" y="0"/>
                  </a:moveTo>
                  <a:lnTo>
                    <a:pt x="2122551" y="0"/>
                  </a:lnTo>
                  <a:lnTo>
                    <a:pt x="2122551" y="749935"/>
                  </a:lnTo>
                  <a:lnTo>
                    <a:pt x="0" y="749935"/>
                  </a:lnTo>
                  <a:close/>
                </a:path>
              </a:pathLst>
            </a:custGeom>
            <a:solidFill>
              <a:srgbClr val="FFFFFF"/>
            </a:solidFill>
            <a:ln w="13345" cap="sq">
              <a:solidFill>
                <a:srgbClr val="969696"/>
              </a:solidFill>
              <a:prstDash val="solid"/>
              <a:miter/>
            </a:ln>
          </p:spPr>
        </p:sp>
      </p:grpSp>
      <p:sp>
        <p:nvSpPr>
          <p:cNvPr name="TextBox 51" id="51"/>
          <p:cNvSpPr txBox="true"/>
          <p:nvPr/>
        </p:nvSpPr>
        <p:spPr>
          <a:xfrm rot="0">
            <a:off x="2900877" y="7288111"/>
            <a:ext cx="1267501" cy="40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4317244" y="7199862"/>
            <a:ext cx="7288511" cy="562413"/>
            <a:chOff x="0" y="0"/>
            <a:chExt cx="9718015" cy="74988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718040" cy="749935"/>
            </a:xfrm>
            <a:custGeom>
              <a:avLst/>
              <a:gdLst/>
              <a:ahLst/>
              <a:cxnLst/>
              <a:rect r="r" b="b" t="t" l="l"/>
              <a:pathLst>
                <a:path h="749935" w="9718040">
                  <a:moveTo>
                    <a:pt x="0" y="0"/>
                  </a:moveTo>
                  <a:lnTo>
                    <a:pt x="9718040" y="0"/>
                  </a:lnTo>
                  <a:lnTo>
                    <a:pt x="9718040" y="749935"/>
                  </a:lnTo>
                  <a:lnTo>
                    <a:pt x="0" y="749935"/>
                  </a:lnTo>
                  <a:close/>
                </a:path>
              </a:pathLst>
            </a:custGeom>
            <a:solidFill>
              <a:srgbClr val="FFFFFF"/>
            </a:solidFill>
            <a:ln w="13345" cap="sq">
              <a:solidFill>
                <a:srgbClr val="969696"/>
              </a:solidFill>
              <a:prstDash val="solid"/>
              <a:miter/>
            </a:ln>
          </p:spPr>
        </p:sp>
      </p:grpSp>
      <p:sp>
        <p:nvSpPr>
          <p:cNvPr name="TextBox 54" id="54"/>
          <p:cNvSpPr txBox="true"/>
          <p:nvPr/>
        </p:nvSpPr>
        <p:spPr>
          <a:xfrm rot="0">
            <a:off x="4479455" y="7288111"/>
            <a:ext cx="6964099" cy="40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2738676" y="7748930"/>
            <a:ext cx="1591923" cy="562413"/>
            <a:chOff x="0" y="0"/>
            <a:chExt cx="2122564" cy="74988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122551" cy="749935"/>
            </a:xfrm>
            <a:custGeom>
              <a:avLst/>
              <a:gdLst/>
              <a:ahLst/>
              <a:cxnLst/>
              <a:rect r="r" b="b" t="t" l="l"/>
              <a:pathLst>
                <a:path h="749935" w="2122551">
                  <a:moveTo>
                    <a:pt x="0" y="0"/>
                  </a:moveTo>
                  <a:lnTo>
                    <a:pt x="2122551" y="0"/>
                  </a:lnTo>
                  <a:lnTo>
                    <a:pt x="2122551" y="749935"/>
                  </a:lnTo>
                  <a:lnTo>
                    <a:pt x="0" y="749935"/>
                  </a:lnTo>
                  <a:close/>
                </a:path>
              </a:pathLst>
            </a:custGeom>
            <a:solidFill>
              <a:srgbClr val="FFFFFF"/>
            </a:solidFill>
            <a:ln w="13345" cap="sq">
              <a:solidFill>
                <a:srgbClr val="969696"/>
              </a:solidFill>
              <a:prstDash val="solid"/>
              <a:miter/>
            </a:ln>
          </p:spPr>
        </p:sp>
      </p:grpSp>
      <p:sp>
        <p:nvSpPr>
          <p:cNvPr name="TextBox 57" id="57"/>
          <p:cNvSpPr txBox="true"/>
          <p:nvPr/>
        </p:nvSpPr>
        <p:spPr>
          <a:xfrm rot="0">
            <a:off x="2900877" y="7837180"/>
            <a:ext cx="1267501" cy="40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9.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4317244" y="7748930"/>
            <a:ext cx="7288511" cy="562413"/>
            <a:chOff x="0" y="0"/>
            <a:chExt cx="9718015" cy="74988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718040" cy="749935"/>
            </a:xfrm>
            <a:custGeom>
              <a:avLst/>
              <a:gdLst/>
              <a:ahLst/>
              <a:cxnLst/>
              <a:rect r="r" b="b" t="t" l="l"/>
              <a:pathLst>
                <a:path h="749935" w="9718040">
                  <a:moveTo>
                    <a:pt x="0" y="0"/>
                  </a:moveTo>
                  <a:lnTo>
                    <a:pt x="9718040" y="0"/>
                  </a:lnTo>
                  <a:lnTo>
                    <a:pt x="9718040" y="749935"/>
                  </a:lnTo>
                  <a:lnTo>
                    <a:pt x="0" y="749935"/>
                  </a:lnTo>
                  <a:close/>
                </a:path>
              </a:pathLst>
            </a:custGeom>
            <a:solidFill>
              <a:srgbClr val="FFFFFF"/>
            </a:solidFill>
            <a:ln w="13345" cap="sq">
              <a:solidFill>
                <a:srgbClr val="969696"/>
              </a:solidFill>
              <a:prstDash val="solid"/>
              <a:miter/>
            </a:ln>
          </p:spPr>
        </p:sp>
      </p:grpSp>
      <p:sp>
        <p:nvSpPr>
          <p:cNvPr name="TextBox 60" id="60"/>
          <p:cNvSpPr txBox="true"/>
          <p:nvPr/>
        </p:nvSpPr>
        <p:spPr>
          <a:xfrm rot="0">
            <a:off x="4479455" y="7837180"/>
            <a:ext cx="6964099" cy="40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2738676" y="8297999"/>
            <a:ext cx="1591923" cy="562413"/>
            <a:chOff x="0" y="0"/>
            <a:chExt cx="2122564" cy="74988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122551" cy="749935"/>
            </a:xfrm>
            <a:custGeom>
              <a:avLst/>
              <a:gdLst/>
              <a:ahLst/>
              <a:cxnLst/>
              <a:rect r="r" b="b" t="t" l="l"/>
              <a:pathLst>
                <a:path h="749935" w="2122551">
                  <a:moveTo>
                    <a:pt x="0" y="0"/>
                  </a:moveTo>
                  <a:lnTo>
                    <a:pt x="2122551" y="0"/>
                  </a:lnTo>
                  <a:lnTo>
                    <a:pt x="2122551" y="749935"/>
                  </a:lnTo>
                  <a:lnTo>
                    <a:pt x="0" y="749935"/>
                  </a:lnTo>
                  <a:close/>
                </a:path>
              </a:pathLst>
            </a:custGeom>
            <a:solidFill>
              <a:srgbClr val="FFFFFF"/>
            </a:solidFill>
            <a:ln w="13345" cap="sq">
              <a:solidFill>
                <a:srgbClr val="969696"/>
              </a:solidFill>
              <a:prstDash val="solid"/>
              <a:miter/>
            </a:ln>
          </p:spPr>
        </p:sp>
      </p:grpSp>
      <p:sp>
        <p:nvSpPr>
          <p:cNvPr name="TextBox 63" id="63"/>
          <p:cNvSpPr txBox="true"/>
          <p:nvPr/>
        </p:nvSpPr>
        <p:spPr>
          <a:xfrm rot="0">
            <a:off x="2900877" y="8386248"/>
            <a:ext cx="1267501" cy="40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10.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4317244" y="8297999"/>
            <a:ext cx="7288511" cy="562413"/>
            <a:chOff x="0" y="0"/>
            <a:chExt cx="9718015" cy="74988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9718040" cy="749935"/>
            </a:xfrm>
            <a:custGeom>
              <a:avLst/>
              <a:gdLst/>
              <a:ahLst/>
              <a:cxnLst/>
              <a:rect r="r" b="b" t="t" l="l"/>
              <a:pathLst>
                <a:path h="749935" w="9718040">
                  <a:moveTo>
                    <a:pt x="0" y="0"/>
                  </a:moveTo>
                  <a:lnTo>
                    <a:pt x="9718040" y="0"/>
                  </a:lnTo>
                  <a:lnTo>
                    <a:pt x="9718040" y="749935"/>
                  </a:lnTo>
                  <a:lnTo>
                    <a:pt x="0" y="749935"/>
                  </a:lnTo>
                  <a:close/>
                </a:path>
              </a:pathLst>
            </a:custGeom>
            <a:solidFill>
              <a:srgbClr val="FFFFFF"/>
            </a:solidFill>
            <a:ln w="13345" cap="sq">
              <a:solidFill>
                <a:srgbClr val="969696"/>
              </a:solidFill>
              <a:prstDash val="solid"/>
              <a:miter/>
            </a:ln>
          </p:spPr>
        </p:sp>
      </p:grpSp>
      <p:sp>
        <p:nvSpPr>
          <p:cNvPr name="TextBox 66" id="66"/>
          <p:cNvSpPr txBox="true"/>
          <p:nvPr/>
        </p:nvSpPr>
        <p:spPr>
          <a:xfrm rot="0">
            <a:off x="4479455" y="8386248"/>
            <a:ext cx="6964099" cy="40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 Plan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2813980"/>
            <a:chOff x="0" y="0"/>
            <a:chExt cx="24402453" cy="3751974"/>
          </a:xfrm>
        </p:grpSpPr>
        <p:sp>
          <p:nvSpPr>
            <p:cNvPr name="Freeform 3" id="3" descr="template_header.png"/>
            <p:cNvSpPr/>
            <p:nvPr/>
          </p:nvSpPr>
          <p:spPr>
            <a:xfrm flipH="false" flipV="false" rot="0">
              <a:off x="0" y="0"/>
              <a:ext cx="24402414" cy="3751961"/>
            </a:xfrm>
            <a:custGeom>
              <a:avLst/>
              <a:gdLst/>
              <a:ahLst/>
              <a:cxnLst/>
              <a:rect r="r" b="b" t="t" l="l"/>
              <a:pathLst>
                <a:path h="3751961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3751961"/>
                  </a:lnTo>
                  <a:lnTo>
                    <a:pt x="0" y="37519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6" r="0" b="-29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622431"/>
            <a:ext cx="18301840" cy="672608"/>
            <a:chOff x="0" y="0"/>
            <a:chExt cx="24402453" cy="896810"/>
          </a:xfrm>
        </p:grpSpPr>
        <p:sp>
          <p:nvSpPr>
            <p:cNvPr name="Freeform 5" id="5" descr="template_footer.png"/>
            <p:cNvSpPr/>
            <p:nvPr/>
          </p:nvSpPr>
          <p:spPr>
            <a:xfrm flipH="false" flipV="false" rot="0">
              <a:off x="0" y="0"/>
              <a:ext cx="24402414" cy="896874"/>
            </a:xfrm>
            <a:custGeom>
              <a:avLst/>
              <a:gdLst/>
              <a:ahLst/>
              <a:cxnLst/>
              <a:rect r="r" b="b" t="t" l="l"/>
              <a:pathLst>
                <a:path h="896874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896874"/>
                  </a:lnTo>
                  <a:lnTo>
                    <a:pt x="0" y="896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14" t="0" r="-115" b="7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983675" y="2556586"/>
            <a:ext cx="16289188" cy="692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3"/>
              </a:lnSpc>
            </a:pPr>
            <a:r>
              <a:rPr lang="en-US" sz="3752" b="true">
                <a:solidFill>
                  <a:srgbClr val="1E375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1. Introduction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86698" y="3423784"/>
            <a:ext cx="5243036" cy="4892322"/>
            <a:chOff x="0" y="0"/>
            <a:chExt cx="6985381" cy="651811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985381" cy="6518145"/>
            </a:xfrm>
            <a:custGeom>
              <a:avLst/>
              <a:gdLst/>
              <a:ahLst/>
              <a:cxnLst/>
              <a:rect r="r" b="b" t="t" l="l"/>
              <a:pathLst>
                <a:path h="6518145" w="6985381">
                  <a:moveTo>
                    <a:pt x="0" y="1086357"/>
                  </a:moveTo>
                  <a:cubicBezTo>
                    <a:pt x="0" y="486409"/>
                    <a:pt x="507619" y="0"/>
                    <a:pt x="1133729" y="0"/>
                  </a:cubicBezTo>
                  <a:lnTo>
                    <a:pt x="5851652" y="0"/>
                  </a:lnTo>
                  <a:cubicBezTo>
                    <a:pt x="6477762" y="0"/>
                    <a:pt x="6985381" y="486409"/>
                    <a:pt x="6985381" y="1086357"/>
                  </a:cubicBezTo>
                  <a:lnTo>
                    <a:pt x="6985381" y="5431786"/>
                  </a:lnTo>
                  <a:cubicBezTo>
                    <a:pt x="6985381" y="6031735"/>
                    <a:pt x="6477762" y="6518145"/>
                    <a:pt x="5851652" y="6518145"/>
                  </a:cubicBezTo>
                  <a:lnTo>
                    <a:pt x="1133729" y="6518145"/>
                  </a:lnTo>
                  <a:cubicBezTo>
                    <a:pt x="507619" y="6518145"/>
                    <a:pt x="0" y="6031735"/>
                    <a:pt x="0" y="5431786"/>
                  </a:cubicBezTo>
                  <a:close/>
                </a:path>
              </a:pathLst>
            </a:custGeom>
            <a:solidFill>
              <a:srgbClr val="FAFAFA"/>
            </a:solidFill>
            <a:ln w="22878" cap="sq">
              <a:solidFill>
                <a:srgbClr val="1E375F"/>
              </a:solidFill>
              <a:prstDash val="lgDash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2600730" y="3752388"/>
            <a:ext cx="1710807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2551" b="true">
                <a:solidFill>
                  <a:srgbClr val="1E375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Background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49759" y="4664126"/>
            <a:ext cx="4712913" cy="2219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744" indent="-226872" lvl="1">
              <a:lnSpc>
                <a:spcPts val="2521"/>
              </a:lnSpc>
              <a:buFont typeface="Arial"/>
              <a:buChar char="•"/>
            </a:pPr>
            <a:r>
              <a:rPr lang="en-US" sz="2101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Grain wholesale prices vary due to supply, demand, seasonality, weather, transportation and market conditions.</a:t>
            </a:r>
          </a:p>
          <a:p>
            <a:pPr algn="l">
              <a:lnSpc>
                <a:spcPts val="2521"/>
              </a:lnSpc>
            </a:pPr>
          </a:p>
          <a:p>
            <a:pPr algn="l" marL="453744" indent="-226872" lvl="1">
              <a:lnSpc>
                <a:spcPts val="2521"/>
              </a:lnSpc>
              <a:buFont typeface="Arial"/>
              <a:buChar char="•"/>
            </a:pPr>
            <a:r>
              <a:rPr lang="en-US" sz="2101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Price records can become difficult to inspect manually when the dataset grows.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577384" y="3423784"/>
            <a:ext cx="5239036" cy="4892322"/>
            <a:chOff x="0" y="0"/>
            <a:chExt cx="6985381" cy="652309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985381" cy="6523122"/>
            </a:xfrm>
            <a:custGeom>
              <a:avLst/>
              <a:gdLst/>
              <a:ahLst/>
              <a:cxnLst/>
              <a:rect r="r" b="b" t="t" l="l"/>
              <a:pathLst>
                <a:path h="6523122" w="6985381">
                  <a:moveTo>
                    <a:pt x="0" y="1087187"/>
                  </a:moveTo>
                  <a:cubicBezTo>
                    <a:pt x="0" y="486780"/>
                    <a:pt x="507619" y="0"/>
                    <a:pt x="1133729" y="0"/>
                  </a:cubicBezTo>
                  <a:lnTo>
                    <a:pt x="5851652" y="0"/>
                  </a:lnTo>
                  <a:cubicBezTo>
                    <a:pt x="6477762" y="0"/>
                    <a:pt x="6985381" y="486780"/>
                    <a:pt x="6985381" y="1087187"/>
                  </a:cubicBezTo>
                  <a:lnTo>
                    <a:pt x="6985381" y="5435934"/>
                  </a:lnTo>
                  <a:cubicBezTo>
                    <a:pt x="6985381" y="6036341"/>
                    <a:pt x="6477762" y="6523122"/>
                    <a:pt x="5851652" y="6523122"/>
                  </a:cubicBezTo>
                  <a:lnTo>
                    <a:pt x="1133729" y="6523122"/>
                  </a:lnTo>
                  <a:cubicBezTo>
                    <a:pt x="507619" y="6523122"/>
                    <a:pt x="0" y="6036341"/>
                    <a:pt x="0" y="5435934"/>
                  </a:cubicBezTo>
                  <a:close/>
                </a:path>
              </a:pathLst>
            </a:custGeom>
            <a:solidFill>
              <a:srgbClr val="FAFAFA"/>
            </a:solidFill>
            <a:ln w="22878" cap="sq">
              <a:solidFill>
                <a:srgbClr val="BE0000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8458875" y="3752388"/>
            <a:ext cx="4712913" cy="40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BE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794463" y="4664126"/>
            <a:ext cx="4712913" cy="2219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744" indent="-226872" lvl="1">
              <a:lnSpc>
                <a:spcPts val="2521"/>
              </a:lnSpc>
              <a:buFont typeface="Arial"/>
              <a:buChar char="•"/>
            </a:pPr>
            <a:r>
              <a:rPr lang="en-US" sz="2101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project focuses on identifying                unusually large wholesale price movements in grain-market records.</a:t>
            </a:r>
          </a:p>
          <a:p>
            <a:pPr algn="l">
              <a:lnSpc>
                <a:spcPts val="2521"/>
              </a:lnSpc>
            </a:pPr>
          </a:p>
          <a:p>
            <a:pPr algn="l" marL="453744" indent="-226872" lvl="1">
              <a:lnSpc>
                <a:spcPts val="2521"/>
              </a:lnSpc>
              <a:buFont typeface="Arial"/>
              <a:buChar char="•"/>
            </a:pPr>
            <a:r>
              <a:rPr lang="en-US" sz="2101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 sorting and searching algorithms are used to organize and locate relevant records efficiently.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068080" y="3423784"/>
            <a:ext cx="5239036" cy="4892322"/>
            <a:chOff x="0" y="0"/>
            <a:chExt cx="6985381" cy="652309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985381" cy="6523122"/>
            </a:xfrm>
            <a:custGeom>
              <a:avLst/>
              <a:gdLst/>
              <a:ahLst/>
              <a:cxnLst/>
              <a:rect r="r" b="b" t="t" l="l"/>
              <a:pathLst>
                <a:path h="6523122" w="6985381">
                  <a:moveTo>
                    <a:pt x="0" y="1087187"/>
                  </a:moveTo>
                  <a:cubicBezTo>
                    <a:pt x="0" y="486780"/>
                    <a:pt x="507619" y="0"/>
                    <a:pt x="1133729" y="0"/>
                  </a:cubicBezTo>
                  <a:lnTo>
                    <a:pt x="5851652" y="0"/>
                  </a:lnTo>
                  <a:cubicBezTo>
                    <a:pt x="6477762" y="0"/>
                    <a:pt x="6985381" y="486780"/>
                    <a:pt x="6985381" y="1087187"/>
                  </a:cubicBezTo>
                  <a:lnTo>
                    <a:pt x="6985381" y="5435934"/>
                  </a:lnTo>
                  <a:cubicBezTo>
                    <a:pt x="6985381" y="6036341"/>
                    <a:pt x="6477762" y="6523122"/>
                    <a:pt x="5851652" y="6523122"/>
                  </a:cubicBezTo>
                  <a:lnTo>
                    <a:pt x="1133729" y="6523122"/>
                  </a:lnTo>
                  <a:cubicBezTo>
                    <a:pt x="507619" y="6523122"/>
                    <a:pt x="0" y="6036341"/>
                    <a:pt x="0" y="5435934"/>
                  </a:cubicBezTo>
                  <a:close/>
                </a:path>
              </a:pathLst>
            </a:custGeom>
            <a:solidFill>
              <a:srgbClr val="FAFAFA"/>
            </a:solidFill>
            <a:ln w="22878" cap="sq">
              <a:solidFill>
                <a:srgbClr val="1E375F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3419438" y="3752388"/>
            <a:ext cx="4712913" cy="40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1E375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Idea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331141" y="4664126"/>
            <a:ext cx="4712913" cy="1590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744" indent="-226872" lvl="1">
              <a:lnSpc>
                <a:spcPts val="2521"/>
              </a:lnSpc>
              <a:buFont typeface="Arial"/>
              <a:buChar char="•"/>
            </a:pPr>
            <a:r>
              <a:rPr lang="en-US" sz="2101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 historical price records, calculate price changes, sort the records, search for relevant values and flag changes that cross a chosen abnormality threshold.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2813980"/>
            <a:chOff x="0" y="0"/>
            <a:chExt cx="24402453" cy="3751974"/>
          </a:xfrm>
        </p:grpSpPr>
        <p:sp>
          <p:nvSpPr>
            <p:cNvPr name="Freeform 3" id="3" descr="template_header.png"/>
            <p:cNvSpPr/>
            <p:nvPr/>
          </p:nvSpPr>
          <p:spPr>
            <a:xfrm flipH="false" flipV="false" rot="0">
              <a:off x="0" y="0"/>
              <a:ext cx="24402414" cy="3751961"/>
            </a:xfrm>
            <a:custGeom>
              <a:avLst/>
              <a:gdLst/>
              <a:ahLst/>
              <a:cxnLst/>
              <a:rect r="r" b="b" t="t" l="l"/>
              <a:pathLst>
                <a:path h="3751961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3751961"/>
                  </a:lnTo>
                  <a:lnTo>
                    <a:pt x="0" y="37519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6" r="0" b="-29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622431"/>
            <a:ext cx="18301840" cy="672608"/>
            <a:chOff x="0" y="0"/>
            <a:chExt cx="24402453" cy="896810"/>
          </a:xfrm>
        </p:grpSpPr>
        <p:sp>
          <p:nvSpPr>
            <p:cNvPr name="Freeform 5" id="5" descr="template_footer.png"/>
            <p:cNvSpPr/>
            <p:nvPr/>
          </p:nvSpPr>
          <p:spPr>
            <a:xfrm flipH="false" flipV="false" rot="0">
              <a:off x="0" y="0"/>
              <a:ext cx="24402414" cy="896874"/>
            </a:xfrm>
            <a:custGeom>
              <a:avLst/>
              <a:gdLst/>
              <a:ahLst/>
              <a:cxnLst/>
              <a:rect r="r" b="b" t="t" l="l"/>
              <a:pathLst>
                <a:path h="896874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896874"/>
                  </a:lnTo>
                  <a:lnTo>
                    <a:pt x="0" y="896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14" t="0" r="-115" b="7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983675" y="2556586"/>
            <a:ext cx="16289188" cy="692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3"/>
              </a:lnSpc>
            </a:pPr>
            <a:r>
              <a:rPr lang="en-US" sz="3752" b="true">
                <a:solidFill>
                  <a:srgbClr val="1E375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 Literature Survey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86698" y="3145707"/>
            <a:ext cx="5239036" cy="5376301"/>
            <a:chOff x="0" y="0"/>
            <a:chExt cx="6985381" cy="716840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985381" cy="7168388"/>
            </a:xfrm>
            <a:custGeom>
              <a:avLst/>
              <a:gdLst/>
              <a:ahLst/>
              <a:cxnLst/>
              <a:rect r="r" b="b" t="t" l="l"/>
              <a:pathLst>
                <a:path h="7168388" w="6985381">
                  <a:moveTo>
                    <a:pt x="0" y="1164209"/>
                  </a:moveTo>
                  <a:cubicBezTo>
                    <a:pt x="0" y="521208"/>
                    <a:pt x="521208" y="0"/>
                    <a:pt x="1164209" y="0"/>
                  </a:cubicBezTo>
                  <a:lnTo>
                    <a:pt x="5821172" y="0"/>
                  </a:lnTo>
                  <a:cubicBezTo>
                    <a:pt x="6464173" y="0"/>
                    <a:pt x="6985381" y="521208"/>
                    <a:pt x="6985381" y="1164209"/>
                  </a:cubicBezTo>
                  <a:lnTo>
                    <a:pt x="6985381" y="6004179"/>
                  </a:lnTo>
                  <a:cubicBezTo>
                    <a:pt x="6985381" y="6647180"/>
                    <a:pt x="6464173" y="7168388"/>
                    <a:pt x="5821172" y="7168388"/>
                  </a:cubicBezTo>
                  <a:lnTo>
                    <a:pt x="1164209" y="7168388"/>
                  </a:lnTo>
                  <a:cubicBezTo>
                    <a:pt x="521208" y="7168388"/>
                    <a:pt x="0" y="6647180"/>
                    <a:pt x="0" y="6004179"/>
                  </a:cubicBezTo>
                  <a:close/>
                </a:path>
              </a:pathLst>
            </a:custGeom>
            <a:solidFill>
              <a:srgbClr val="FAFAFA"/>
            </a:solidFill>
            <a:ln w="22878" cap="sq">
              <a:solidFill>
                <a:srgbClr val="1E375F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2248787" y="3771990"/>
            <a:ext cx="4712913" cy="40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1E375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Existing Data Sources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49759" y="4561032"/>
            <a:ext cx="4712913" cy="1904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Agricultural and wholesale market datasets provide historical commodity prices that can be analyzed for changes over time.</a:t>
            </a:r>
          </a:p>
          <a:p>
            <a:pPr algn="l">
              <a:lnSpc>
                <a:spcPts val="2521"/>
              </a:lnSpc>
            </a:pP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Such datasets form the basis for price-monitoring applications.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577384" y="3145707"/>
            <a:ext cx="5239036" cy="5376301"/>
            <a:chOff x="0" y="0"/>
            <a:chExt cx="6985381" cy="71684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985381" cy="7168388"/>
            </a:xfrm>
            <a:custGeom>
              <a:avLst/>
              <a:gdLst/>
              <a:ahLst/>
              <a:cxnLst/>
              <a:rect r="r" b="b" t="t" l="l"/>
              <a:pathLst>
                <a:path h="7168388" w="6985381">
                  <a:moveTo>
                    <a:pt x="0" y="1164209"/>
                  </a:moveTo>
                  <a:cubicBezTo>
                    <a:pt x="0" y="521208"/>
                    <a:pt x="521208" y="0"/>
                    <a:pt x="1164209" y="0"/>
                  </a:cubicBezTo>
                  <a:lnTo>
                    <a:pt x="5821172" y="0"/>
                  </a:lnTo>
                  <a:cubicBezTo>
                    <a:pt x="6464173" y="0"/>
                    <a:pt x="6985381" y="521208"/>
                    <a:pt x="6985381" y="1164209"/>
                  </a:cubicBezTo>
                  <a:lnTo>
                    <a:pt x="6985381" y="6004179"/>
                  </a:lnTo>
                  <a:cubicBezTo>
                    <a:pt x="6985381" y="6647180"/>
                    <a:pt x="6464173" y="7168388"/>
                    <a:pt x="5821172" y="7168388"/>
                  </a:cubicBezTo>
                  <a:lnTo>
                    <a:pt x="1164209" y="7168388"/>
                  </a:lnTo>
                  <a:cubicBezTo>
                    <a:pt x="521208" y="7168388"/>
                    <a:pt x="0" y="6647180"/>
                    <a:pt x="0" y="6004179"/>
                  </a:cubicBezTo>
                  <a:close/>
                </a:path>
              </a:pathLst>
            </a:custGeom>
            <a:solidFill>
              <a:srgbClr val="FAFAFA"/>
            </a:solidFill>
            <a:ln w="22878" cap="sq">
              <a:solidFill>
                <a:srgbClr val="BE0000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7618228" y="3771990"/>
            <a:ext cx="4712913" cy="40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BE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Related Approaches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840450" y="4875335"/>
            <a:ext cx="4712913" cy="1276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Commodity-price monitoring commonly uses historical comparison, sorting/ranking, statistical summaries and anomaly detection to identify unusual movements.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068080" y="3145707"/>
            <a:ext cx="5239036" cy="5376301"/>
            <a:chOff x="0" y="0"/>
            <a:chExt cx="6985381" cy="716840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985381" cy="7168388"/>
            </a:xfrm>
            <a:custGeom>
              <a:avLst/>
              <a:gdLst/>
              <a:ahLst/>
              <a:cxnLst/>
              <a:rect r="r" b="b" t="t" l="l"/>
              <a:pathLst>
                <a:path h="7168388" w="6985381">
                  <a:moveTo>
                    <a:pt x="0" y="1164209"/>
                  </a:moveTo>
                  <a:cubicBezTo>
                    <a:pt x="0" y="521208"/>
                    <a:pt x="521208" y="0"/>
                    <a:pt x="1164209" y="0"/>
                  </a:cubicBezTo>
                  <a:lnTo>
                    <a:pt x="5821172" y="0"/>
                  </a:lnTo>
                  <a:cubicBezTo>
                    <a:pt x="6464173" y="0"/>
                    <a:pt x="6985381" y="521208"/>
                    <a:pt x="6985381" y="1164209"/>
                  </a:cubicBezTo>
                  <a:lnTo>
                    <a:pt x="6985381" y="6004179"/>
                  </a:lnTo>
                  <a:cubicBezTo>
                    <a:pt x="6985381" y="6647180"/>
                    <a:pt x="6464173" y="7168388"/>
                    <a:pt x="5821172" y="7168388"/>
                  </a:cubicBezTo>
                  <a:lnTo>
                    <a:pt x="1164209" y="7168388"/>
                  </a:lnTo>
                  <a:cubicBezTo>
                    <a:pt x="521208" y="7168388"/>
                    <a:pt x="0" y="6647180"/>
                    <a:pt x="0" y="6004179"/>
                  </a:cubicBezTo>
                  <a:close/>
                </a:path>
              </a:pathLst>
            </a:custGeom>
            <a:solidFill>
              <a:srgbClr val="FAFAFA"/>
            </a:solidFill>
            <a:ln w="22878" cap="sq">
              <a:solidFill>
                <a:srgbClr val="1E375F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3626541" y="3771990"/>
            <a:ext cx="4712913" cy="40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1E375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Gap Addressed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331141" y="4875335"/>
            <a:ext cx="4712913" cy="4429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mini project provides a focused, understandable Java implementation where the sorting and searching steps are explicit and directly connected to grain-price fluctuation analysis.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2813980"/>
            <a:chOff x="0" y="0"/>
            <a:chExt cx="24402453" cy="3751974"/>
          </a:xfrm>
        </p:grpSpPr>
        <p:sp>
          <p:nvSpPr>
            <p:cNvPr name="Freeform 3" id="3" descr="template_header.png"/>
            <p:cNvSpPr/>
            <p:nvPr/>
          </p:nvSpPr>
          <p:spPr>
            <a:xfrm flipH="false" flipV="false" rot="0">
              <a:off x="0" y="0"/>
              <a:ext cx="24402414" cy="3751961"/>
            </a:xfrm>
            <a:custGeom>
              <a:avLst/>
              <a:gdLst/>
              <a:ahLst/>
              <a:cxnLst/>
              <a:rect r="r" b="b" t="t" l="l"/>
              <a:pathLst>
                <a:path h="3751961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3751961"/>
                  </a:lnTo>
                  <a:lnTo>
                    <a:pt x="0" y="37519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6" r="0" b="-29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622431"/>
            <a:ext cx="18301840" cy="672608"/>
            <a:chOff x="0" y="0"/>
            <a:chExt cx="24402453" cy="896810"/>
          </a:xfrm>
        </p:grpSpPr>
        <p:sp>
          <p:nvSpPr>
            <p:cNvPr name="Freeform 5" id="5" descr="template_footer.png"/>
            <p:cNvSpPr/>
            <p:nvPr/>
          </p:nvSpPr>
          <p:spPr>
            <a:xfrm flipH="false" flipV="false" rot="0">
              <a:off x="0" y="0"/>
              <a:ext cx="24402414" cy="896874"/>
            </a:xfrm>
            <a:custGeom>
              <a:avLst/>
              <a:gdLst/>
              <a:ahLst/>
              <a:cxnLst/>
              <a:rect r="r" b="b" t="t" l="l"/>
              <a:pathLst>
                <a:path h="896874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896874"/>
                  </a:lnTo>
                  <a:lnTo>
                    <a:pt x="0" y="896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14" t="0" r="-115" b="7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983675" y="2556586"/>
            <a:ext cx="16289188" cy="692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3"/>
              </a:lnSpc>
            </a:pPr>
            <a:r>
              <a:rPr lang="en-US" sz="3752" b="true">
                <a:solidFill>
                  <a:srgbClr val="1E375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3. Objective Project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23962" y="3903659"/>
            <a:ext cx="7847114" cy="4515431"/>
            <a:chOff x="0" y="0"/>
            <a:chExt cx="10462819" cy="602057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62768" cy="6020531"/>
            </a:xfrm>
            <a:custGeom>
              <a:avLst/>
              <a:gdLst/>
              <a:ahLst/>
              <a:cxnLst/>
              <a:rect r="r" b="b" t="t" l="l"/>
              <a:pathLst>
                <a:path h="6020531" w="10462768">
                  <a:moveTo>
                    <a:pt x="0" y="1003422"/>
                  </a:moveTo>
                  <a:cubicBezTo>
                    <a:pt x="0" y="449305"/>
                    <a:pt x="514477" y="0"/>
                    <a:pt x="1148969" y="0"/>
                  </a:cubicBezTo>
                  <a:lnTo>
                    <a:pt x="9313800" y="0"/>
                  </a:lnTo>
                  <a:cubicBezTo>
                    <a:pt x="9948418" y="0"/>
                    <a:pt x="10462768" y="449305"/>
                    <a:pt x="10462768" y="1003422"/>
                  </a:cubicBezTo>
                  <a:lnTo>
                    <a:pt x="10462768" y="5017109"/>
                  </a:lnTo>
                  <a:cubicBezTo>
                    <a:pt x="10462768" y="5571336"/>
                    <a:pt x="9948291" y="6020531"/>
                    <a:pt x="9313800" y="6020531"/>
                  </a:cubicBezTo>
                  <a:lnTo>
                    <a:pt x="1148969" y="6020531"/>
                  </a:lnTo>
                  <a:cubicBezTo>
                    <a:pt x="514477" y="6020531"/>
                    <a:pt x="0" y="5571336"/>
                    <a:pt x="0" y="5017109"/>
                  </a:cubicBezTo>
                  <a:close/>
                </a:path>
              </a:pathLst>
            </a:custGeom>
            <a:solidFill>
              <a:srgbClr val="FAFAFA"/>
            </a:solidFill>
            <a:ln w="22878" cap="sq">
              <a:solidFill>
                <a:srgbClr val="BE0000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3675855" y="4204744"/>
            <a:ext cx="7320991" cy="40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BE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Primary Objective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29929" y="4930826"/>
            <a:ext cx="7320991" cy="4224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develop a Java-based Pulse Price Volatility Analyzer that processes grain wholesale price records and flags abnormal price fluctuations using sorting and searching algorithms.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322737" y="3903659"/>
            <a:ext cx="7709840" cy="4481084"/>
            <a:chOff x="0" y="0"/>
            <a:chExt cx="10279786" cy="59747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279762" cy="5974735"/>
            </a:xfrm>
            <a:custGeom>
              <a:avLst/>
              <a:gdLst/>
              <a:ahLst/>
              <a:cxnLst/>
              <a:rect r="r" b="b" t="t" l="l"/>
              <a:pathLst>
                <a:path h="5974735" w="10279762">
                  <a:moveTo>
                    <a:pt x="0" y="995789"/>
                  </a:moveTo>
                  <a:cubicBezTo>
                    <a:pt x="0" y="445887"/>
                    <a:pt x="514477" y="0"/>
                    <a:pt x="1148969" y="0"/>
                  </a:cubicBezTo>
                  <a:lnTo>
                    <a:pt x="9130792" y="0"/>
                  </a:lnTo>
                  <a:cubicBezTo>
                    <a:pt x="9765412" y="0"/>
                    <a:pt x="10279762" y="445887"/>
                    <a:pt x="10279762" y="995789"/>
                  </a:cubicBezTo>
                  <a:lnTo>
                    <a:pt x="10279762" y="4978945"/>
                  </a:lnTo>
                  <a:cubicBezTo>
                    <a:pt x="10279762" y="5528957"/>
                    <a:pt x="9765285" y="5974735"/>
                    <a:pt x="9130792" y="5974735"/>
                  </a:cubicBezTo>
                  <a:lnTo>
                    <a:pt x="1148969" y="5974735"/>
                  </a:lnTo>
                  <a:cubicBezTo>
                    <a:pt x="514477" y="5974735"/>
                    <a:pt x="0" y="5528957"/>
                    <a:pt x="0" y="4978945"/>
                  </a:cubicBezTo>
                  <a:close/>
                </a:path>
              </a:pathLst>
            </a:custGeom>
            <a:solidFill>
              <a:srgbClr val="FAFAFA"/>
            </a:solidFill>
            <a:ln w="22878" cap="sq">
              <a:solidFill>
                <a:srgbClr val="1E375F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1407071" y="4204744"/>
            <a:ext cx="7183726" cy="40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1E375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Specific Objectives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85793" y="4835981"/>
            <a:ext cx="7183726" cy="4224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Organize grain price records in a suitable structure.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Implement sorting to rank prices or price changes.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Implement searching for rapid record retrieval.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Compare price changes against a configurable threshold.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Produce a clear flagged-output summary.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2813980"/>
            <a:chOff x="0" y="0"/>
            <a:chExt cx="24402453" cy="3751974"/>
          </a:xfrm>
        </p:grpSpPr>
        <p:sp>
          <p:nvSpPr>
            <p:cNvPr name="Freeform 3" id="3" descr="template_header.png"/>
            <p:cNvSpPr/>
            <p:nvPr/>
          </p:nvSpPr>
          <p:spPr>
            <a:xfrm flipH="false" flipV="false" rot="0">
              <a:off x="0" y="0"/>
              <a:ext cx="24402414" cy="3751961"/>
            </a:xfrm>
            <a:custGeom>
              <a:avLst/>
              <a:gdLst/>
              <a:ahLst/>
              <a:cxnLst/>
              <a:rect r="r" b="b" t="t" l="l"/>
              <a:pathLst>
                <a:path h="3751961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3751961"/>
                  </a:lnTo>
                  <a:lnTo>
                    <a:pt x="0" y="37519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6" r="0" b="-29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622431"/>
            <a:ext cx="18301840" cy="672608"/>
            <a:chOff x="0" y="0"/>
            <a:chExt cx="24402453" cy="896810"/>
          </a:xfrm>
        </p:grpSpPr>
        <p:sp>
          <p:nvSpPr>
            <p:cNvPr name="Freeform 5" id="5" descr="template_footer.png"/>
            <p:cNvSpPr/>
            <p:nvPr/>
          </p:nvSpPr>
          <p:spPr>
            <a:xfrm flipH="false" flipV="false" rot="0">
              <a:off x="0" y="0"/>
              <a:ext cx="24402414" cy="896874"/>
            </a:xfrm>
            <a:custGeom>
              <a:avLst/>
              <a:gdLst/>
              <a:ahLst/>
              <a:cxnLst/>
              <a:rect r="r" b="b" t="t" l="l"/>
              <a:pathLst>
                <a:path h="896874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896874"/>
                  </a:lnTo>
                  <a:lnTo>
                    <a:pt x="0" y="896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14" t="0" r="-115" b="7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983675" y="2556586"/>
            <a:ext cx="16289188" cy="692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3"/>
              </a:lnSpc>
            </a:pPr>
            <a:r>
              <a:rPr lang="en-US" sz="3752" b="true">
                <a:solidFill>
                  <a:srgbClr val="1E375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4. Implementation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06266" y="3351609"/>
            <a:ext cx="2425055" cy="2974124"/>
            <a:chOff x="0" y="0"/>
            <a:chExt cx="3233407" cy="396549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33420" cy="3965448"/>
            </a:xfrm>
            <a:custGeom>
              <a:avLst/>
              <a:gdLst/>
              <a:ahLst/>
              <a:cxnLst/>
              <a:rect r="r" b="b" t="t" l="l"/>
              <a:pathLst>
                <a:path h="3965448" w="3233420">
                  <a:moveTo>
                    <a:pt x="0" y="538861"/>
                  </a:moveTo>
                  <a:cubicBezTo>
                    <a:pt x="0" y="241300"/>
                    <a:pt x="241300" y="0"/>
                    <a:pt x="538861" y="0"/>
                  </a:cubicBezTo>
                  <a:lnTo>
                    <a:pt x="2694432" y="0"/>
                  </a:lnTo>
                  <a:cubicBezTo>
                    <a:pt x="2992120" y="0"/>
                    <a:pt x="3233420" y="241300"/>
                    <a:pt x="3233420" y="538861"/>
                  </a:cubicBezTo>
                  <a:lnTo>
                    <a:pt x="3233420" y="3426587"/>
                  </a:lnTo>
                  <a:cubicBezTo>
                    <a:pt x="3233420" y="3724275"/>
                    <a:pt x="2992120" y="3965448"/>
                    <a:pt x="2694559" y="3965448"/>
                  </a:cubicBezTo>
                  <a:lnTo>
                    <a:pt x="538861" y="3965448"/>
                  </a:lnTo>
                  <a:cubicBezTo>
                    <a:pt x="241300" y="3965448"/>
                    <a:pt x="0" y="3724275"/>
                    <a:pt x="0" y="3426587"/>
                  </a:cubicBezTo>
                  <a:close/>
                </a:path>
              </a:pathLst>
            </a:custGeom>
            <a:solidFill>
              <a:srgbClr val="FAFAFA"/>
            </a:solidFill>
            <a:ln w="22878" cap="sq">
              <a:solidFill>
                <a:srgbClr val="1E375F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869328" y="3499533"/>
            <a:ext cx="1898933" cy="40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1E375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Input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69328" y="4103503"/>
            <a:ext cx="1898933" cy="2027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Commodity, market,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date, wholesale price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3488874" y="3351609"/>
            <a:ext cx="2425055" cy="2974124"/>
            <a:chOff x="0" y="0"/>
            <a:chExt cx="3233407" cy="396549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233420" cy="3965448"/>
            </a:xfrm>
            <a:custGeom>
              <a:avLst/>
              <a:gdLst/>
              <a:ahLst/>
              <a:cxnLst/>
              <a:rect r="r" b="b" t="t" l="l"/>
              <a:pathLst>
                <a:path h="3965448" w="3233420">
                  <a:moveTo>
                    <a:pt x="0" y="538861"/>
                  </a:moveTo>
                  <a:cubicBezTo>
                    <a:pt x="0" y="241300"/>
                    <a:pt x="241300" y="0"/>
                    <a:pt x="538861" y="0"/>
                  </a:cubicBezTo>
                  <a:lnTo>
                    <a:pt x="2694432" y="0"/>
                  </a:lnTo>
                  <a:cubicBezTo>
                    <a:pt x="2992120" y="0"/>
                    <a:pt x="3233420" y="241300"/>
                    <a:pt x="3233420" y="538861"/>
                  </a:cubicBezTo>
                  <a:lnTo>
                    <a:pt x="3233420" y="3426587"/>
                  </a:lnTo>
                  <a:cubicBezTo>
                    <a:pt x="3233420" y="3724275"/>
                    <a:pt x="2992120" y="3965448"/>
                    <a:pt x="2694559" y="3965448"/>
                  </a:cubicBezTo>
                  <a:lnTo>
                    <a:pt x="538861" y="3965448"/>
                  </a:lnTo>
                  <a:cubicBezTo>
                    <a:pt x="241300" y="3965448"/>
                    <a:pt x="0" y="3724275"/>
                    <a:pt x="0" y="3426587"/>
                  </a:cubicBezTo>
                  <a:close/>
                </a:path>
              </a:pathLst>
            </a:custGeom>
            <a:solidFill>
              <a:srgbClr val="FAFAFA"/>
            </a:solidFill>
            <a:ln w="22878" cap="sq">
              <a:solidFill>
                <a:srgbClr val="1E375F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3751936" y="3499533"/>
            <a:ext cx="1898933" cy="40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1E375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Process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751936" y="4103503"/>
            <a:ext cx="1898933" cy="2027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Validate records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&amp; calculate change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371492" y="3351609"/>
            <a:ext cx="2425055" cy="2974124"/>
            <a:chOff x="0" y="0"/>
            <a:chExt cx="3233407" cy="396549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233420" cy="3965448"/>
            </a:xfrm>
            <a:custGeom>
              <a:avLst/>
              <a:gdLst/>
              <a:ahLst/>
              <a:cxnLst/>
              <a:rect r="r" b="b" t="t" l="l"/>
              <a:pathLst>
                <a:path h="3965448" w="3233420">
                  <a:moveTo>
                    <a:pt x="0" y="538861"/>
                  </a:moveTo>
                  <a:cubicBezTo>
                    <a:pt x="0" y="241300"/>
                    <a:pt x="241300" y="0"/>
                    <a:pt x="538861" y="0"/>
                  </a:cubicBezTo>
                  <a:lnTo>
                    <a:pt x="2694432" y="0"/>
                  </a:lnTo>
                  <a:cubicBezTo>
                    <a:pt x="2992120" y="0"/>
                    <a:pt x="3233420" y="241300"/>
                    <a:pt x="3233420" y="538861"/>
                  </a:cubicBezTo>
                  <a:lnTo>
                    <a:pt x="3233420" y="3426587"/>
                  </a:lnTo>
                  <a:cubicBezTo>
                    <a:pt x="3233420" y="3724275"/>
                    <a:pt x="2992120" y="3965448"/>
                    <a:pt x="2694559" y="3965448"/>
                  </a:cubicBezTo>
                  <a:lnTo>
                    <a:pt x="538861" y="3965448"/>
                  </a:lnTo>
                  <a:cubicBezTo>
                    <a:pt x="241300" y="3965448"/>
                    <a:pt x="0" y="3724275"/>
                    <a:pt x="0" y="3426587"/>
                  </a:cubicBezTo>
                  <a:close/>
                </a:path>
              </a:pathLst>
            </a:custGeom>
            <a:solidFill>
              <a:srgbClr val="FAFAFA"/>
            </a:solidFill>
            <a:ln w="22878" cap="sq">
              <a:solidFill>
                <a:srgbClr val="1E375F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6634544" y="3499533"/>
            <a:ext cx="1898933" cy="40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1E375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Sort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634544" y="4103503"/>
            <a:ext cx="1898933" cy="2027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Arrange records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price/change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254099" y="3351609"/>
            <a:ext cx="2425055" cy="2974124"/>
            <a:chOff x="0" y="0"/>
            <a:chExt cx="3233407" cy="396549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233420" cy="3965448"/>
            </a:xfrm>
            <a:custGeom>
              <a:avLst/>
              <a:gdLst/>
              <a:ahLst/>
              <a:cxnLst/>
              <a:rect r="r" b="b" t="t" l="l"/>
              <a:pathLst>
                <a:path h="3965448" w="3233420">
                  <a:moveTo>
                    <a:pt x="0" y="538861"/>
                  </a:moveTo>
                  <a:cubicBezTo>
                    <a:pt x="0" y="241300"/>
                    <a:pt x="241300" y="0"/>
                    <a:pt x="538861" y="0"/>
                  </a:cubicBezTo>
                  <a:lnTo>
                    <a:pt x="2694432" y="0"/>
                  </a:lnTo>
                  <a:cubicBezTo>
                    <a:pt x="2992120" y="0"/>
                    <a:pt x="3233420" y="241300"/>
                    <a:pt x="3233420" y="538861"/>
                  </a:cubicBezTo>
                  <a:lnTo>
                    <a:pt x="3233420" y="3426587"/>
                  </a:lnTo>
                  <a:cubicBezTo>
                    <a:pt x="3233420" y="3724275"/>
                    <a:pt x="2992120" y="3965448"/>
                    <a:pt x="2694559" y="3965448"/>
                  </a:cubicBezTo>
                  <a:lnTo>
                    <a:pt x="538861" y="3965448"/>
                  </a:lnTo>
                  <a:cubicBezTo>
                    <a:pt x="241300" y="3965448"/>
                    <a:pt x="0" y="3724275"/>
                    <a:pt x="0" y="3426587"/>
                  </a:cubicBezTo>
                  <a:close/>
                </a:path>
              </a:pathLst>
            </a:custGeom>
            <a:solidFill>
              <a:srgbClr val="FAFAFA"/>
            </a:solidFill>
            <a:ln w="22878" cap="sq">
              <a:solidFill>
                <a:srgbClr val="1E375F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9517161" y="3499533"/>
            <a:ext cx="1898933" cy="40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1E375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Search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517161" y="4103503"/>
            <a:ext cx="1898933" cy="2027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Locate records /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threshold matches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136707" y="3351609"/>
            <a:ext cx="2425055" cy="2974124"/>
            <a:chOff x="0" y="0"/>
            <a:chExt cx="3233407" cy="396549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233420" cy="3965448"/>
            </a:xfrm>
            <a:custGeom>
              <a:avLst/>
              <a:gdLst/>
              <a:ahLst/>
              <a:cxnLst/>
              <a:rect r="r" b="b" t="t" l="l"/>
              <a:pathLst>
                <a:path h="3965448" w="3233420">
                  <a:moveTo>
                    <a:pt x="0" y="538861"/>
                  </a:moveTo>
                  <a:cubicBezTo>
                    <a:pt x="0" y="241300"/>
                    <a:pt x="241300" y="0"/>
                    <a:pt x="538861" y="0"/>
                  </a:cubicBezTo>
                  <a:lnTo>
                    <a:pt x="2694432" y="0"/>
                  </a:lnTo>
                  <a:cubicBezTo>
                    <a:pt x="2992120" y="0"/>
                    <a:pt x="3233420" y="241300"/>
                    <a:pt x="3233420" y="538861"/>
                  </a:cubicBezTo>
                  <a:lnTo>
                    <a:pt x="3233420" y="3426587"/>
                  </a:lnTo>
                  <a:cubicBezTo>
                    <a:pt x="3233420" y="3724275"/>
                    <a:pt x="2992120" y="3965448"/>
                    <a:pt x="2694559" y="3965448"/>
                  </a:cubicBezTo>
                  <a:lnTo>
                    <a:pt x="538861" y="3965448"/>
                  </a:lnTo>
                  <a:cubicBezTo>
                    <a:pt x="241300" y="3965448"/>
                    <a:pt x="0" y="3724275"/>
                    <a:pt x="0" y="3426587"/>
                  </a:cubicBezTo>
                  <a:close/>
                </a:path>
              </a:pathLst>
            </a:custGeom>
            <a:solidFill>
              <a:srgbClr val="FAFAFA"/>
            </a:solidFill>
            <a:ln w="22878" cap="sq">
              <a:solidFill>
                <a:srgbClr val="BE0000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2399769" y="3499533"/>
            <a:ext cx="1898933" cy="40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BE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Flag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399769" y="4103503"/>
            <a:ext cx="1898933" cy="2027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Mark abnormal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fluctuations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5019325" y="3351609"/>
            <a:ext cx="2425055" cy="2974124"/>
            <a:chOff x="0" y="0"/>
            <a:chExt cx="3233407" cy="396549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233420" cy="3965448"/>
            </a:xfrm>
            <a:custGeom>
              <a:avLst/>
              <a:gdLst/>
              <a:ahLst/>
              <a:cxnLst/>
              <a:rect r="r" b="b" t="t" l="l"/>
              <a:pathLst>
                <a:path h="3965448" w="3233420">
                  <a:moveTo>
                    <a:pt x="0" y="538861"/>
                  </a:moveTo>
                  <a:cubicBezTo>
                    <a:pt x="0" y="241300"/>
                    <a:pt x="241300" y="0"/>
                    <a:pt x="538861" y="0"/>
                  </a:cubicBezTo>
                  <a:lnTo>
                    <a:pt x="2694432" y="0"/>
                  </a:lnTo>
                  <a:cubicBezTo>
                    <a:pt x="2992120" y="0"/>
                    <a:pt x="3233420" y="241300"/>
                    <a:pt x="3233420" y="538861"/>
                  </a:cubicBezTo>
                  <a:lnTo>
                    <a:pt x="3233420" y="3426587"/>
                  </a:lnTo>
                  <a:cubicBezTo>
                    <a:pt x="3233420" y="3724275"/>
                    <a:pt x="2992120" y="3965448"/>
                    <a:pt x="2694559" y="3965448"/>
                  </a:cubicBezTo>
                  <a:lnTo>
                    <a:pt x="538861" y="3965448"/>
                  </a:lnTo>
                  <a:cubicBezTo>
                    <a:pt x="241300" y="3965448"/>
                    <a:pt x="0" y="3724275"/>
                    <a:pt x="0" y="3426587"/>
                  </a:cubicBezTo>
                  <a:close/>
                </a:path>
              </a:pathLst>
            </a:custGeom>
            <a:solidFill>
              <a:srgbClr val="FAFAFA"/>
            </a:solidFill>
            <a:ln w="22878" cap="sq">
              <a:solidFill>
                <a:srgbClr val="1E375F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15282386" y="3499533"/>
            <a:ext cx="1898933" cy="40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1E375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Output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5282386" y="4103503"/>
            <a:ext cx="1898933" cy="2027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Display flagged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records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18396" y="7379989"/>
            <a:ext cx="15419756" cy="94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19191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Algorithms: Sorting (e.g., selection/insertion or Java built-in sorting) • Searching (linear/binary) • Threshold-based price-change flagging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2813980"/>
            <a:chOff x="0" y="0"/>
            <a:chExt cx="24402453" cy="3751974"/>
          </a:xfrm>
        </p:grpSpPr>
        <p:sp>
          <p:nvSpPr>
            <p:cNvPr name="Freeform 3" id="3" descr="template_header.png"/>
            <p:cNvSpPr/>
            <p:nvPr/>
          </p:nvSpPr>
          <p:spPr>
            <a:xfrm flipH="false" flipV="false" rot="0">
              <a:off x="0" y="0"/>
              <a:ext cx="24402414" cy="3751961"/>
            </a:xfrm>
            <a:custGeom>
              <a:avLst/>
              <a:gdLst/>
              <a:ahLst/>
              <a:cxnLst/>
              <a:rect r="r" b="b" t="t" l="l"/>
              <a:pathLst>
                <a:path h="3751961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3751961"/>
                  </a:lnTo>
                  <a:lnTo>
                    <a:pt x="0" y="37519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6" r="0" b="-29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622431"/>
            <a:ext cx="18301840" cy="672608"/>
            <a:chOff x="0" y="0"/>
            <a:chExt cx="24402453" cy="896810"/>
          </a:xfrm>
        </p:grpSpPr>
        <p:sp>
          <p:nvSpPr>
            <p:cNvPr name="Freeform 5" id="5" descr="template_footer.png"/>
            <p:cNvSpPr/>
            <p:nvPr/>
          </p:nvSpPr>
          <p:spPr>
            <a:xfrm flipH="false" flipV="false" rot="0">
              <a:off x="0" y="0"/>
              <a:ext cx="24402414" cy="896874"/>
            </a:xfrm>
            <a:custGeom>
              <a:avLst/>
              <a:gdLst/>
              <a:ahLst/>
              <a:cxnLst/>
              <a:rect r="r" b="b" t="t" l="l"/>
              <a:pathLst>
                <a:path h="896874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896874"/>
                  </a:lnTo>
                  <a:lnTo>
                    <a:pt x="0" y="896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14" t="0" r="-115" b="7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983675" y="2556586"/>
            <a:ext cx="16289188" cy="692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3"/>
              </a:lnSpc>
            </a:pPr>
            <a:r>
              <a:rPr lang="en-US" sz="3752" b="true">
                <a:solidFill>
                  <a:srgbClr val="1E375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5. Expected Results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86698" y="3561212"/>
            <a:ext cx="7847114" cy="4188221"/>
            <a:chOff x="0" y="0"/>
            <a:chExt cx="10462819" cy="558429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62895" cy="5584408"/>
            </a:xfrm>
            <a:custGeom>
              <a:avLst/>
              <a:gdLst/>
              <a:ahLst/>
              <a:cxnLst/>
              <a:rect r="r" b="b" t="t" l="l"/>
              <a:pathLst>
                <a:path h="5584408" w="10462895">
                  <a:moveTo>
                    <a:pt x="0" y="930780"/>
                  </a:moveTo>
                  <a:cubicBezTo>
                    <a:pt x="0" y="416714"/>
                    <a:pt x="534924" y="0"/>
                    <a:pt x="1194816" y="0"/>
                  </a:cubicBezTo>
                  <a:lnTo>
                    <a:pt x="9268079" y="0"/>
                  </a:lnTo>
                  <a:cubicBezTo>
                    <a:pt x="9927972" y="0"/>
                    <a:pt x="10462895" y="416714"/>
                    <a:pt x="10462895" y="930780"/>
                  </a:cubicBezTo>
                  <a:lnTo>
                    <a:pt x="10462895" y="4653603"/>
                  </a:lnTo>
                  <a:cubicBezTo>
                    <a:pt x="10462895" y="5167669"/>
                    <a:pt x="9927972" y="5584408"/>
                    <a:pt x="9268079" y="5584408"/>
                  </a:cubicBezTo>
                  <a:lnTo>
                    <a:pt x="1194816" y="5584408"/>
                  </a:lnTo>
                  <a:cubicBezTo>
                    <a:pt x="534924" y="5584284"/>
                    <a:pt x="0" y="5167570"/>
                    <a:pt x="0" y="4653603"/>
                  </a:cubicBezTo>
                  <a:close/>
                </a:path>
              </a:pathLst>
            </a:custGeom>
            <a:solidFill>
              <a:srgbClr val="FAFAFA"/>
            </a:solidFill>
            <a:ln w="22878" cap="sq">
              <a:solidFill>
                <a:srgbClr val="1E375F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3018704" y="3897601"/>
            <a:ext cx="7320991" cy="40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1E375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Expected System Output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49759" y="4953343"/>
            <a:ext cx="7320991" cy="4429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Organized grain price records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Fast retrieval of relevant records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Ranked/highest/lowest price changes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Flagged abnormal fluctuations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Simple summary suitable for review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322737" y="3561212"/>
            <a:ext cx="7709840" cy="4188221"/>
            <a:chOff x="0" y="0"/>
            <a:chExt cx="10279786" cy="558429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279888" cy="5584408"/>
            </a:xfrm>
            <a:custGeom>
              <a:avLst/>
              <a:gdLst/>
              <a:ahLst/>
              <a:cxnLst/>
              <a:rect r="r" b="b" t="t" l="l"/>
              <a:pathLst>
                <a:path h="5584408" w="10279888">
                  <a:moveTo>
                    <a:pt x="0" y="930780"/>
                  </a:moveTo>
                  <a:cubicBezTo>
                    <a:pt x="0" y="416714"/>
                    <a:pt x="534924" y="0"/>
                    <a:pt x="1194816" y="0"/>
                  </a:cubicBezTo>
                  <a:lnTo>
                    <a:pt x="9085072" y="0"/>
                  </a:lnTo>
                  <a:cubicBezTo>
                    <a:pt x="9744964" y="0"/>
                    <a:pt x="10279888" y="416714"/>
                    <a:pt x="10279888" y="930780"/>
                  </a:cubicBezTo>
                  <a:lnTo>
                    <a:pt x="10279888" y="4653603"/>
                  </a:lnTo>
                  <a:cubicBezTo>
                    <a:pt x="10279888" y="5167669"/>
                    <a:pt x="9744964" y="5584408"/>
                    <a:pt x="9085072" y="5584408"/>
                  </a:cubicBezTo>
                  <a:lnTo>
                    <a:pt x="1194816" y="5584408"/>
                  </a:lnTo>
                  <a:cubicBezTo>
                    <a:pt x="534924" y="5584284"/>
                    <a:pt x="0" y="5167570"/>
                    <a:pt x="0" y="4653603"/>
                  </a:cubicBezTo>
                  <a:close/>
                </a:path>
              </a:pathLst>
            </a:custGeom>
            <a:solidFill>
              <a:srgbClr val="FAFAFA"/>
            </a:solidFill>
            <a:ln w="22878" cap="sq">
              <a:solidFill>
                <a:srgbClr val="BE0000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1683395" y="3897601"/>
            <a:ext cx="7183726" cy="40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BE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Expected Evaluation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85789" y="4953343"/>
            <a:ext cx="7183726" cy="1276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project will test whether sorting and searching correctly process the dataset and whether the selected threshold identifies the intended unusual price movements without excessive false flags.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2813980"/>
            <a:chOff x="0" y="0"/>
            <a:chExt cx="24402453" cy="3751974"/>
          </a:xfrm>
        </p:grpSpPr>
        <p:sp>
          <p:nvSpPr>
            <p:cNvPr name="Freeform 3" id="3" descr="template_header.png"/>
            <p:cNvSpPr/>
            <p:nvPr/>
          </p:nvSpPr>
          <p:spPr>
            <a:xfrm flipH="false" flipV="false" rot="0">
              <a:off x="0" y="0"/>
              <a:ext cx="24402414" cy="3751961"/>
            </a:xfrm>
            <a:custGeom>
              <a:avLst/>
              <a:gdLst/>
              <a:ahLst/>
              <a:cxnLst/>
              <a:rect r="r" b="b" t="t" l="l"/>
              <a:pathLst>
                <a:path h="3751961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3751961"/>
                  </a:lnTo>
                  <a:lnTo>
                    <a:pt x="0" y="37519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6" r="0" b="-29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622431"/>
            <a:ext cx="18301840" cy="672608"/>
            <a:chOff x="0" y="0"/>
            <a:chExt cx="24402453" cy="896810"/>
          </a:xfrm>
        </p:grpSpPr>
        <p:sp>
          <p:nvSpPr>
            <p:cNvPr name="Freeform 5" id="5" descr="template_footer.png"/>
            <p:cNvSpPr/>
            <p:nvPr/>
          </p:nvSpPr>
          <p:spPr>
            <a:xfrm flipH="false" flipV="false" rot="0">
              <a:off x="0" y="0"/>
              <a:ext cx="24402414" cy="896874"/>
            </a:xfrm>
            <a:custGeom>
              <a:avLst/>
              <a:gdLst/>
              <a:ahLst/>
              <a:cxnLst/>
              <a:rect r="r" b="b" t="t" l="l"/>
              <a:pathLst>
                <a:path h="896874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896874"/>
                  </a:lnTo>
                  <a:lnTo>
                    <a:pt x="0" y="896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14" t="0" r="-115" b="7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983675" y="2556586"/>
            <a:ext cx="16289188" cy="692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3"/>
              </a:lnSpc>
            </a:pPr>
            <a:r>
              <a:rPr lang="en-US" sz="3752" b="true">
                <a:solidFill>
                  <a:srgbClr val="1E375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6. Applications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90703" y="3731645"/>
            <a:ext cx="5239036" cy="3452317"/>
            <a:chOff x="0" y="0"/>
            <a:chExt cx="6985381" cy="460308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985381" cy="4603081"/>
            </a:xfrm>
            <a:custGeom>
              <a:avLst/>
              <a:gdLst/>
              <a:ahLst/>
              <a:cxnLst/>
              <a:rect r="r" b="b" t="t" l="l"/>
              <a:pathLst>
                <a:path h="4603081" w="6985381">
                  <a:moveTo>
                    <a:pt x="0" y="747581"/>
                  </a:moveTo>
                  <a:cubicBezTo>
                    <a:pt x="0" y="334686"/>
                    <a:pt x="521208" y="0"/>
                    <a:pt x="1164209" y="0"/>
                  </a:cubicBezTo>
                  <a:lnTo>
                    <a:pt x="5821172" y="0"/>
                  </a:lnTo>
                  <a:cubicBezTo>
                    <a:pt x="6464173" y="0"/>
                    <a:pt x="6985381" y="334686"/>
                    <a:pt x="6985381" y="747581"/>
                  </a:cubicBezTo>
                  <a:lnTo>
                    <a:pt x="6985381" y="3855500"/>
                  </a:lnTo>
                  <a:cubicBezTo>
                    <a:pt x="6985381" y="4268394"/>
                    <a:pt x="6464173" y="4603081"/>
                    <a:pt x="5821172" y="4603081"/>
                  </a:cubicBezTo>
                  <a:lnTo>
                    <a:pt x="1164209" y="4603081"/>
                  </a:lnTo>
                  <a:cubicBezTo>
                    <a:pt x="521208" y="4603081"/>
                    <a:pt x="0" y="4268395"/>
                    <a:pt x="0" y="3855500"/>
                  </a:cubicBezTo>
                  <a:close/>
                </a:path>
              </a:pathLst>
            </a:custGeom>
            <a:solidFill>
              <a:srgbClr val="FAFAFA"/>
            </a:solidFill>
            <a:ln w="22878" cap="sq">
              <a:solidFill>
                <a:srgbClr val="1E375F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2127533" y="3897601"/>
            <a:ext cx="4712913" cy="40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1E375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Market Monitoring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49759" y="5124450"/>
            <a:ext cx="4712913" cy="647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Track grain wholesale price movements and quickly locate unusually large changes.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577389" y="3248692"/>
            <a:ext cx="5239036" cy="5376301"/>
            <a:chOff x="0" y="0"/>
            <a:chExt cx="6985381" cy="71684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985381" cy="7168388"/>
            </a:xfrm>
            <a:custGeom>
              <a:avLst/>
              <a:gdLst/>
              <a:ahLst/>
              <a:cxnLst/>
              <a:rect r="r" b="b" t="t" l="l"/>
              <a:pathLst>
                <a:path h="7168388" w="6985381">
                  <a:moveTo>
                    <a:pt x="0" y="1164209"/>
                  </a:moveTo>
                  <a:cubicBezTo>
                    <a:pt x="0" y="521208"/>
                    <a:pt x="521208" y="0"/>
                    <a:pt x="1164209" y="0"/>
                  </a:cubicBezTo>
                  <a:lnTo>
                    <a:pt x="5821172" y="0"/>
                  </a:lnTo>
                  <a:cubicBezTo>
                    <a:pt x="6464173" y="0"/>
                    <a:pt x="6985381" y="521208"/>
                    <a:pt x="6985381" y="1164209"/>
                  </a:cubicBezTo>
                  <a:lnTo>
                    <a:pt x="6985381" y="6004179"/>
                  </a:lnTo>
                  <a:cubicBezTo>
                    <a:pt x="6985381" y="6647180"/>
                    <a:pt x="6464173" y="7168388"/>
                    <a:pt x="5821172" y="7168388"/>
                  </a:cubicBezTo>
                  <a:lnTo>
                    <a:pt x="1164209" y="7168388"/>
                  </a:lnTo>
                  <a:cubicBezTo>
                    <a:pt x="521208" y="7168388"/>
                    <a:pt x="0" y="6647180"/>
                    <a:pt x="0" y="6004179"/>
                  </a:cubicBezTo>
                  <a:close/>
                </a:path>
              </a:pathLst>
            </a:custGeom>
            <a:solidFill>
              <a:srgbClr val="FAFAFA"/>
            </a:solidFill>
            <a:ln w="22878" cap="sq">
              <a:solidFill>
                <a:srgbClr val="BE0000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8019673" y="3897601"/>
            <a:ext cx="4712913" cy="40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BE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 Analysis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771813" y="5124450"/>
            <a:ext cx="4712913" cy="4429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Sort and search historical records to support comparisons across dates, commodities or markets.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068080" y="3731645"/>
            <a:ext cx="5239036" cy="3452317"/>
            <a:chOff x="0" y="0"/>
            <a:chExt cx="6985381" cy="460308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985381" cy="4603081"/>
            </a:xfrm>
            <a:custGeom>
              <a:avLst/>
              <a:gdLst/>
              <a:ahLst/>
              <a:cxnLst/>
              <a:rect r="r" b="b" t="t" l="l"/>
              <a:pathLst>
                <a:path h="4603081" w="6985381">
                  <a:moveTo>
                    <a:pt x="0" y="747581"/>
                  </a:moveTo>
                  <a:cubicBezTo>
                    <a:pt x="0" y="334686"/>
                    <a:pt x="521208" y="0"/>
                    <a:pt x="1164209" y="0"/>
                  </a:cubicBezTo>
                  <a:lnTo>
                    <a:pt x="5821172" y="0"/>
                  </a:lnTo>
                  <a:cubicBezTo>
                    <a:pt x="6464173" y="0"/>
                    <a:pt x="6985381" y="334686"/>
                    <a:pt x="6985381" y="747581"/>
                  </a:cubicBezTo>
                  <a:lnTo>
                    <a:pt x="6985381" y="3855500"/>
                  </a:lnTo>
                  <a:cubicBezTo>
                    <a:pt x="6985381" y="4268394"/>
                    <a:pt x="6464173" y="4603081"/>
                    <a:pt x="5821172" y="4603081"/>
                  </a:cubicBezTo>
                  <a:lnTo>
                    <a:pt x="1164209" y="4603081"/>
                  </a:lnTo>
                  <a:cubicBezTo>
                    <a:pt x="521208" y="4603081"/>
                    <a:pt x="0" y="4268395"/>
                    <a:pt x="0" y="3855500"/>
                  </a:cubicBezTo>
                  <a:close/>
                </a:path>
              </a:pathLst>
            </a:custGeom>
            <a:solidFill>
              <a:srgbClr val="FAFAFA"/>
            </a:solidFill>
            <a:ln w="22878" cap="sq">
              <a:solidFill>
                <a:srgbClr val="1E375F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3249718" y="3897601"/>
            <a:ext cx="4712913" cy="40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1E375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Decision Support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330770" y="5124450"/>
            <a:ext cx="4712913" cy="647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 a focused list of price changes that may deserve further market investigation.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2813980"/>
            <a:chOff x="0" y="0"/>
            <a:chExt cx="24402453" cy="3751974"/>
          </a:xfrm>
        </p:grpSpPr>
        <p:sp>
          <p:nvSpPr>
            <p:cNvPr name="Freeform 3" id="3" descr="template_header.png"/>
            <p:cNvSpPr/>
            <p:nvPr/>
          </p:nvSpPr>
          <p:spPr>
            <a:xfrm flipH="false" flipV="false" rot="0">
              <a:off x="0" y="0"/>
              <a:ext cx="24402414" cy="3751961"/>
            </a:xfrm>
            <a:custGeom>
              <a:avLst/>
              <a:gdLst/>
              <a:ahLst/>
              <a:cxnLst/>
              <a:rect r="r" b="b" t="t" l="l"/>
              <a:pathLst>
                <a:path h="3751961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3751961"/>
                  </a:lnTo>
                  <a:lnTo>
                    <a:pt x="0" y="37519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6" r="0" b="-29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622431"/>
            <a:ext cx="18301840" cy="672608"/>
            <a:chOff x="0" y="0"/>
            <a:chExt cx="24402453" cy="896810"/>
          </a:xfrm>
        </p:grpSpPr>
        <p:sp>
          <p:nvSpPr>
            <p:cNvPr name="Freeform 5" id="5" descr="template_footer.png"/>
            <p:cNvSpPr/>
            <p:nvPr/>
          </p:nvSpPr>
          <p:spPr>
            <a:xfrm flipH="false" flipV="false" rot="0">
              <a:off x="0" y="0"/>
              <a:ext cx="24402414" cy="896874"/>
            </a:xfrm>
            <a:custGeom>
              <a:avLst/>
              <a:gdLst/>
              <a:ahLst/>
              <a:cxnLst/>
              <a:rect r="r" b="b" t="t" l="l"/>
              <a:pathLst>
                <a:path h="896874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896874"/>
                  </a:lnTo>
                  <a:lnTo>
                    <a:pt x="0" y="896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14" t="0" r="-115" b="7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06326" y="2785405"/>
            <a:ext cx="16289188" cy="692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3"/>
              </a:lnSpc>
            </a:pPr>
            <a:r>
              <a:rPr lang="en-US" sz="3752" b="true">
                <a:solidFill>
                  <a:srgbClr val="1E375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7. Future Scope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55394" y="3977269"/>
            <a:ext cx="15191051" cy="5281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Add a graphical dashboard for price trends and flagged events.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Support larger datasets through database integration.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Add more statistical anomaly-detection methods.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Compare multiple grains, markets and time periods.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Add configurable thresholds and user-defined filters.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Explore predictive models for future price movement analysis.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63954" y="8715737"/>
            <a:ext cx="15282491" cy="682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b="true">
                <a:solidFill>
                  <a:srgbClr val="BE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enhancements can extend the prototype from a Java algorithm demonstration into a broader market-monitoring application.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2813980"/>
            <a:chOff x="0" y="0"/>
            <a:chExt cx="24402453" cy="3751974"/>
          </a:xfrm>
        </p:grpSpPr>
        <p:sp>
          <p:nvSpPr>
            <p:cNvPr name="Freeform 3" id="3" descr="template_header.png"/>
            <p:cNvSpPr/>
            <p:nvPr/>
          </p:nvSpPr>
          <p:spPr>
            <a:xfrm flipH="false" flipV="false" rot="0">
              <a:off x="0" y="0"/>
              <a:ext cx="24402414" cy="3751961"/>
            </a:xfrm>
            <a:custGeom>
              <a:avLst/>
              <a:gdLst/>
              <a:ahLst/>
              <a:cxnLst/>
              <a:rect r="r" b="b" t="t" l="l"/>
              <a:pathLst>
                <a:path h="3751961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3751961"/>
                  </a:lnTo>
                  <a:lnTo>
                    <a:pt x="0" y="37519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6" r="0" b="-29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622431"/>
            <a:ext cx="18301840" cy="672608"/>
            <a:chOff x="0" y="0"/>
            <a:chExt cx="24402453" cy="896810"/>
          </a:xfrm>
        </p:grpSpPr>
        <p:sp>
          <p:nvSpPr>
            <p:cNvPr name="Freeform 5" id="5" descr="template_footer.png"/>
            <p:cNvSpPr/>
            <p:nvPr/>
          </p:nvSpPr>
          <p:spPr>
            <a:xfrm flipH="false" flipV="false" rot="0">
              <a:off x="0" y="0"/>
              <a:ext cx="24402414" cy="896874"/>
            </a:xfrm>
            <a:custGeom>
              <a:avLst/>
              <a:gdLst/>
              <a:ahLst/>
              <a:cxnLst/>
              <a:rect r="r" b="b" t="t" l="l"/>
              <a:pathLst>
                <a:path h="896874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896874"/>
                  </a:lnTo>
                  <a:lnTo>
                    <a:pt x="0" y="896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14" t="0" r="-115" b="7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983675" y="2556586"/>
            <a:ext cx="16289188" cy="692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3"/>
              </a:lnSpc>
            </a:pPr>
            <a:r>
              <a:rPr lang="en-US" sz="3752" b="true">
                <a:solidFill>
                  <a:srgbClr val="1E375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8. Conclusion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624289" y="3917266"/>
            <a:ext cx="15007952" cy="4601879"/>
            <a:chOff x="0" y="0"/>
            <a:chExt cx="23378063" cy="716840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378139" cy="7168515"/>
            </a:xfrm>
            <a:custGeom>
              <a:avLst/>
              <a:gdLst/>
              <a:ahLst/>
              <a:cxnLst/>
              <a:rect r="r" b="b" t="t" l="l"/>
              <a:pathLst>
                <a:path h="7168515" w="23378139">
                  <a:moveTo>
                    <a:pt x="0" y="1194816"/>
                  </a:moveTo>
                  <a:cubicBezTo>
                    <a:pt x="0" y="534924"/>
                    <a:pt x="603777" y="0"/>
                    <a:pt x="1348607" y="0"/>
                  </a:cubicBezTo>
                  <a:lnTo>
                    <a:pt x="22029542" y="0"/>
                  </a:lnTo>
                  <a:cubicBezTo>
                    <a:pt x="22774373" y="0"/>
                    <a:pt x="23378139" y="534924"/>
                    <a:pt x="23378139" y="1194816"/>
                  </a:cubicBezTo>
                  <a:lnTo>
                    <a:pt x="23378139" y="5973699"/>
                  </a:lnTo>
                  <a:cubicBezTo>
                    <a:pt x="23378139" y="6633591"/>
                    <a:pt x="22774373" y="7168515"/>
                    <a:pt x="22029542" y="7168515"/>
                  </a:cubicBezTo>
                  <a:lnTo>
                    <a:pt x="1348607" y="7168515"/>
                  </a:lnTo>
                  <a:cubicBezTo>
                    <a:pt x="603777" y="7168388"/>
                    <a:pt x="0" y="6633464"/>
                    <a:pt x="0" y="5973699"/>
                  </a:cubicBezTo>
                  <a:close/>
                </a:path>
              </a:pathLst>
            </a:custGeom>
            <a:solidFill>
              <a:srgbClr val="FAFAFA"/>
            </a:solidFill>
            <a:ln w="22878" cap="sq">
              <a:solidFill>
                <a:srgbClr val="1E375F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624289" y="4775509"/>
            <a:ext cx="15007952" cy="1904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744" indent="-226872" lvl="1">
              <a:lnSpc>
                <a:spcPts val="2521"/>
              </a:lnSpc>
              <a:buFont typeface="Arial"/>
              <a:buChar char="•"/>
            </a:pPr>
            <a:r>
              <a:rPr lang="en-US" b="true" sz="2101">
                <a:solidFill>
                  <a:srgbClr val="19191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Pulse Price Volatility Analyzer</a:t>
            </a:r>
            <a:r>
              <a:rPr lang="en-US" sz="2101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designed to make grain wholesale price monitoring more systematic. By combining </a:t>
            </a:r>
            <a:r>
              <a:rPr lang="en-US" b="true" sz="2101">
                <a:solidFill>
                  <a:srgbClr val="19191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Java sorting </a:t>
            </a:r>
            <a:r>
              <a:rPr lang="en-US" sz="2101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lang="en-US" b="true" sz="2101">
                <a:solidFill>
                  <a:srgbClr val="19191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searching</a:t>
            </a:r>
            <a:r>
              <a:rPr lang="en-US" sz="2101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true" sz="2101">
                <a:solidFill>
                  <a:srgbClr val="19191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algorithms</a:t>
            </a:r>
            <a:r>
              <a:rPr lang="en-US" sz="2101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price-change calculations and threshold-based flagging, the project can organize large sets of records and highlight unusual fluctuations for further review.</a:t>
            </a:r>
          </a:p>
          <a:p>
            <a:pPr algn="l">
              <a:lnSpc>
                <a:spcPts val="2521"/>
              </a:lnSpc>
            </a:pPr>
          </a:p>
          <a:p>
            <a:pPr algn="l" marL="453744" indent="-226872" lvl="1">
              <a:lnSpc>
                <a:spcPts val="2521"/>
              </a:lnSpc>
              <a:buFont typeface="Arial"/>
              <a:buChar char="•"/>
            </a:pPr>
            <a:r>
              <a:rPr lang="en-US" sz="2101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approach is simple, explainable and suitable for demonstrating core data-structure and algorithm concepts in a real-world agriculture-market context.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2813980"/>
            <a:chOff x="0" y="0"/>
            <a:chExt cx="24402453" cy="3751974"/>
          </a:xfrm>
        </p:grpSpPr>
        <p:sp>
          <p:nvSpPr>
            <p:cNvPr name="Freeform 3" id="3" descr="template_header.png"/>
            <p:cNvSpPr/>
            <p:nvPr/>
          </p:nvSpPr>
          <p:spPr>
            <a:xfrm flipH="false" flipV="false" rot="0">
              <a:off x="0" y="0"/>
              <a:ext cx="24402414" cy="3751961"/>
            </a:xfrm>
            <a:custGeom>
              <a:avLst/>
              <a:gdLst/>
              <a:ahLst/>
              <a:cxnLst/>
              <a:rect r="r" b="b" t="t" l="l"/>
              <a:pathLst>
                <a:path h="3751961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3751961"/>
                  </a:lnTo>
                  <a:lnTo>
                    <a:pt x="0" y="37519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6" r="0" b="-29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622431"/>
            <a:ext cx="18301840" cy="672608"/>
            <a:chOff x="0" y="0"/>
            <a:chExt cx="24402453" cy="896810"/>
          </a:xfrm>
        </p:grpSpPr>
        <p:sp>
          <p:nvSpPr>
            <p:cNvPr name="Freeform 5" id="5" descr="template_footer.png"/>
            <p:cNvSpPr/>
            <p:nvPr/>
          </p:nvSpPr>
          <p:spPr>
            <a:xfrm flipH="false" flipV="false" rot="0">
              <a:off x="0" y="0"/>
              <a:ext cx="24402414" cy="896874"/>
            </a:xfrm>
            <a:custGeom>
              <a:avLst/>
              <a:gdLst/>
              <a:ahLst/>
              <a:cxnLst/>
              <a:rect r="r" b="b" t="t" l="l"/>
              <a:pathLst>
                <a:path h="896874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896874"/>
                  </a:lnTo>
                  <a:lnTo>
                    <a:pt x="0" y="896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14" t="0" r="-115" b="7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69328" y="2785405"/>
            <a:ext cx="16289188" cy="692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3"/>
              </a:lnSpc>
            </a:pPr>
            <a:r>
              <a:rPr lang="en-US" sz="3752" b="true">
                <a:solidFill>
                  <a:srgbClr val="1E375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9. References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18396" y="4114533"/>
            <a:ext cx="15191051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2551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Java documentation for arrays, collections, sorting and searching utilities.</a:t>
            </a:r>
          </a:p>
          <a:p>
            <a:pPr algn="ctr">
              <a:lnSpc>
                <a:spcPts val="3062"/>
              </a:lnSpc>
            </a:pPr>
            <a:r>
              <a:rPr lang="en-US" sz="2551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Official agricultural / wholesale market price dataset documentation used by the project team.</a:t>
            </a:r>
          </a:p>
          <a:p>
            <a:pPr algn="ctr">
              <a:lnSpc>
                <a:spcPts val="3062"/>
              </a:lnSpc>
            </a:pPr>
            <a:r>
              <a:rPr lang="en-US" sz="2551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Research papers and articles on commodity price volatility and anomaly detection.</a:t>
            </a:r>
          </a:p>
          <a:p>
            <a:pPr algn="ctr">
              <a:lnSpc>
                <a:spcPts val="3062"/>
              </a:lnSpc>
            </a:pPr>
            <a:r>
              <a:rPr lang="en-US" sz="2551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Documentation for any data source, CSV format or database used in implementation.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2813980"/>
            <a:chOff x="0" y="0"/>
            <a:chExt cx="24402453" cy="3751974"/>
          </a:xfrm>
        </p:grpSpPr>
        <p:sp>
          <p:nvSpPr>
            <p:cNvPr name="Freeform 3" id="3" descr="template_header.png"/>
            <p:cNvSpPr/>
            <p:nvPr/>
          </p:nvSpPr>
          <p:spPr>
            <a:xfrm flipH="false" flipV="false" rot="0">
              <a:off x="0" y="0"/>
              <a:ext cx="24402414" cy="3751961"/>
            </a:xfrm>
            <a:custGeom>
              <a:avLst/>
              <a:gdLst/>
              <a:ahLst/>
              <a:cxnLst/>
              <a:rect r="r" b="b" t="t" l="l"/>
              <a:pathLst>
                <a:path h="3751961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3751961"/>
                  </a:lnTo>
                  <a:lnTo>
                    <a:pt x="0" y="37519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6" r="0" b="-29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622431"/>
            <a:ext cx="18301840" cy="672608"/>
            <a:chOff x="0" y="0"/>
            <a:chExt cx="24402453" cy="896810"/>
          </a:xfrm>
        </p:grpSpPr>
        <p:sp>
          <p:nvSpPr>
            <p:cNvPr name="Freeform 5" id="5" descr="template_footer.png"/>
            <p:cNvSpPr/>
            <p:nvPr/>
          </p:nvSpPr>
          <p:spPr>
            <a:xfrm flipH="false" flipV="false" rot="0">
              <a:off x="0" y="0"/>
              <a:ext cx="24402414" cy="896874"/>
            </a:xfrm>
            <a:custGeom>
              <a:avLst/>
              <a:gdLst/>
              <a:ahLst/>
              <a:cxnLst/>
              <a:rect r="r" b="b" t="t" l="l"/>
              <a:pathLst>
                <a:path h="896874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896874"/>
                  </a:lnTo>
                  <a:lnTo>
                    <a:pt x="0" y="896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14" t="0" r="-115" b="7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983675" y="2556586"/>
            <a:ext cx="16289188" cy="692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3"/>
              </a:lnSpc>
            </a:pPr>
            <a:r>
              <a:rPr lang="en-US" sz="3752" b="true">
                <a:solidFill>
                  <a:srgbClr val="1E375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10. Time Plan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361237" y="3077070"/>
            <a:ext cx="3111389" cy="1011203"/>
            <a:chOff x="0" y="0"/>
            <a:chExt cx="4148518" cy="134827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148455" cy="1348232"/>
            </a:xfrm>
            <a:custGeom>
              <a:avLst/>
              <a:gdLst/>
              <a:ahLst/>
              <a:cxnLst/>
              <a:rect r="r" b="b" t="t" l="l"/>
              <a:pathLst>
                <a:path h="1348232" w="4148455">
                  <a:moveTo>
                    <a:pt x="0" y="224663"/>
                  </a:moveTo>
                  <a:cubicBezTo>
                    <a:pt x="0" y="100584"/>
                    <a:pt x="100584" y="0"/>
                    <a:pt x="224663" y="0"/>
                  </a:cubicBezTo>
                  <a:lnTo>
                    <a:pt x="3923792" y="0"/>
                  </a:lnTo>
                  <a:cubicBezTo>
                    <a:pt x="4047871" y="0"/>
                    <a:pt x="4148455" y="100584"/>
                    <a:pt x="4148455" y="224663"/>
                  </a:cubicBezTo>
                  <a:lnTo>
                    <a:pt x="4148455" y="1123569"/>
                  </a:lnTo>
                  <a:cubicBezTo>
                    <a:pt x="4148455" y="1247648"/>
                    <a:pt x="4047871" y="1348232"/>
                    <a:pt x="3923792" y="1348232"/>
                  </a:cubicBezTo>
                  <a:lnTo>
                    <a:pt x="224663" y="1348232"/>
                  </a:lnTo>
                  <a:cubicBezTo>
                    <a:pt x="100584" y="1348232"/>
                    <a:pt x="0" y="1247648"/>
                    <a:pt x="0" y="1123569"/>
                  </a:cubicBezTo>
                  <a:close/>
                </a:path>
              </a:pathLst>
            </a:custGeom>
            <a:solidFill>
              <a:srgbClr val="FAFAFA"/>
            </a:solidFill>
            <a:ln w="22878" cap="sq">
              <a:solidFill>
                <a:srgbClr val="BE0000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624289" y="3224994"/>
            <a:ext cx="2585276" cy="40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BE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Week 1–2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4861550" y="3077070"/>
            <a:ext cx="12102398" cy="1166774"/>
            <a:chOff x="0" y="0"/>
            <a:chExt cx="16136531" cy="155569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136494" cy="1555655"/>
            </a:xfrm>
            <a:custGeom>
              <a:avLst/>
              <a:gdLst/>
              <a:ahLst/>
              <a:cxnLst/>
              <a:rect r="r" b="b" t="t" l="l"/>
              <a:pathLst>
                <a:path h="1555655" w="16136494">
                  <a:moveTo>
                    <a:pt x="0" y="259227"/>
                  </a:moveTo>
                  <a:cubicBezTo>
                    <a:pt x="0" y="116059"/>
                    <a:pt x="100584" y="0"/>
                    <a:pt x="224663" y="0"/>
                  </a:cubicBezTo>
                  <a:lnTo>
                    <a:pt x="15911830" y="0"/>
                  </a:lnTo>
                  <a:cubicBezTo>
                    <a:pt x="16035910" y="0"/>
                    <a:pt x="16136494" y="116059"/>
                    <a:pt x="16136494" y="259227"/>
                  </a:cubicBezTo>
                  <a:lnTo>
                    <a:pt x="16136494" y="1296428"/>
                  </a:lnTo>
                  <a:cubicBezTo>
                    <a:pt x="16136494" y="1439597"/>
                    <a:pt x="16035910" y="1555655"/>
                    <a:pt x="15911830" y="1555655"/>
                  </a:cubicBezTo>
                  <a:lnTo>
                    <a:pt x="224663" y="1555655"/>
                  </a:lnTo>
                  <a:cubicBezTo>
                    <a:pt x="100584" y="1555655"/>
                    <a:pt x="0" y="1439597"/>
                    <a:pt x="0" y="1296428"/>
                  </a:cubicBezTo>
                  <a:close/>
                </a:path>
              </a:pathLst>
            </a:custGeom>
            <a:solidFill>
              <a:srgbClr val="FAFAFA"/>
            </a:solidFill>
            <a:ln w="22878" cap="sq">
              <a:solidFill>
                <a:srgbClr val="BE0000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5124602" y="3224994"/>
            <a:ext cx="1349926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BE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Milestone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124612" y="3754920"/>
            <a:ext cx="4090624" cy="333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 &amp; synopsis approval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361237" y="4410818"/>
            <a:ext cx="3111389" cy="999801"/>
            <a:chOff x="0" y="0"/>
            <a:chExt cx="4148518" cy="133306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148455" cy="1333031"/>
            </a:xfrm>
            <a:custGeom>
              <a:avLst/>
              <a:gdLst/>
              <a:ahLst/>
              <a:cxnLst/>
              <a:rect r="r" b="b" t="t" l="l"/>
              <a:pathLst>
                <a:path h="1333031" w="4148455">
                  <a:moveTo>
                    <a:pt x="0" y="222130"/>
                  </a:moveTo>
                  <a:cubicBezTo>
                    <a:pt x="0" y="99450"/>
                    <a:pt x="100584" y="0"/>
                    <a:pt x="224663" y="0"/>
                  </a:cubicBezTo>
                  <a:lnTo>
                    <a:pt x="3923792" y="0"/>
                  </a:lnTo>
                  <a:cubicBezTo>
                    <a:pt x="4047871" y="0"/>
                    <a:pt x="4148455" y="99450"/>
                    <a:pt x="4148455" y="222130"/>
                  </a:cubicBezTo>
                  <a:lnTo>
                    <a:pt x="4148455" y="1110901"/>
                  </a:lnTo>
                  <a:cubicBezTo>
                    <a:pt x="4148455" y="1233581"/>
                    <a:pt x="4047871" y="1333031"/>
                    <a:pt x="3923792" y="1333031"/>
                  </a:cubicBezTo>
                  <a:lnTo>
                    <a:pt x="224663" y="1333031"/>
                  </a:lnTo>
                  <a:cubicBezTo>
                    <a:pt x="100584" y="1333031"/>
                    <a:pt x="0" y="1233581"/>
                    <a:pt x="0" y="1110901"/>
                  </a:cubicBezTo>
                  <a:close/>
                </a:path>
              </a:pathLst>
            </a:custGeom>
            <a:solidFill>
              <a:srgbClr val="FAFAFA"/>
            </a:solidFill>
            <a:ln w="22878" cap="sq">
              <a:solidFill>
                <a:srgbClr val="1E375F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624293" y="4619387"/>
            <a:ext cx="2585276" cy="40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1E375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Week 3–5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4861550" y="4410818"/>
            <a:ext cx="12102398" cy="999801"/>
            <a:chOff x="0" y="0"/>
            <a:chExt cx="16136531" cy="133306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136494" cy="1333031"/>
            </a:xfrm>
            <a:custGeom>
              <a:avLst/>
              <a:gdLst/>
              <a:ahLst/>
              <a:cxnLst/>
              <a:rect r="r" b="b" t="t" l="l"/>
              <a:pathLst>
                <a:path h="1333031" w="16136494">
                  <a:moveTo>
                    <a:pt x="0" y="222130"/>
                  </a:moveTo>
                  <a:cubicBezTo>
                    <a:pt x="0" y="99450"/>
                    <a:pt x="100584" y="0"/>
                    <a:pt x="224663" y="0"/>
                  </a:cubicBezTo>
                  <a:lnTo>
                    <a:pt x="15911830" y="0"/>
                  </a:lnTo>
                  <a:cubicBezTo>
                    <a:pt x="16035910" y="0"/>
                    <a:pt x="16136494" y="99450"/>
                    <a:pt x="16136494" y="222130"/>
                  </a:cubicBezTo>
                  <a:lnTo>
                    <a:pt x="16136494" y="1110901"/>
                  </a:lnTo>
                  <a:cubicBezTo>
                    <a:pt x="16136494" y="1233581"/>
                    <a:pt x="16035910" y="1333031"/>
                    <a:pt x="15911830" y="1333031"/>
                  </a:cubicBezTo>
                  <a:lnTo>
                    <a:pt x="224663" y="1333031"/>
                  </a:lnTo>
                  <a:cubicBezTo>
                    <a:pt x="100584" y="1333031"/>
                    <a:pt x="0" y="1233581"/>
                    <a:pt x="0" y="1110901"/>
                  </a:cubicBezTo>
                  <a:close/>
                </a:path>
              </a:pathLst>
            </a:custGeom>
            <a:solidFill>
              <a:srgbClr val="FAFAFA"/>
            </a:solidFill>
            <a:ln w="22878" cap="sq">
              <a:solidFill>
                <a:srgbClr val="1E375F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5124612" y="4544168"/>
            <a:ext cx="11576275" cy="40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1E375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Milestone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124612" y="4952209"/>
            <a:ext cx="11576275" cy="6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Requirements, dataset collection &amp; system design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361237" y="5577592"/>
            <a:ext cx="3111389" cy="999792"/>
            <a:chOff x="0" y="0"/>
            <a:chExt cx="4148518" cy="133305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148455" cy="1333018"/>
            </a:xfrm>
            <a:custGeom>
              <a:avLst/>
              <a:gdLst/>
              <a:ahLst/>
              <a:cxnLst/>
              <a:rect r="r" b="b" t="t" l="l"/>
              <a:pathLst>
                <a:path h="1333018" w="4148455">
                  <a:moveTo>
                    <a:pt x="0" y="222128"/>
                  </a:moveTo>
                  <a:cubicBezTo>
                    <a:pt x="0" y="99449"/>
                    <a:pt x="100584" y="0"/>
                    <a:pt x="224663" y="0"/>
                  </a:cubicBezTo>
                  <a:lnTo>
                    <a:pt x="3923792" y="0"/>
                  </a:lnTo>
                  <a:cubicBezTo>
                    <a:pt x="4047871" y="0"/>
                    <a:pt x="4148455" y="99449"/>
                    <a:pt x="4148455" y="222128"/>
                  </a:cubicBezTo>
                  <a:lnTo>
                    <a:pt x="4148455" y="1110890"/>
                  </a:lnTo>
                  <a:cubicBezTo>
                    <a:pt x="4148455" y="1233569"/>
                    <a:pt x="4047871" y="1333018"/>
                    <a:pt x="3923792" y="1333018"/>
                  </a:cubicBezTo>
                  <a:lnTo>
                    <a:pt x="224663" y="1333018"/>
                  </a:lnTo>
                  <a:cubicBezTo>
                    <a:pt x="100584" y="1333018"/>
                    <a:pt x="0" y="1233569"/>
                    <a:pt x="0" y="1110890"/>
                  </a:cubicBezTo>
                  <a:close/>
                </a:path>
              </a:pathLst>
            </a:custGeom>
            <a:solidFill>
              <a:srgbClr val="FAFAFA"/>
            </a:solidFill>
            <a:ln w="22878" cap="sq">
              <a:solidFill>
                <a:srgbClr val="BE0000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1624289" y="5853670"/>
            <a:ext cx="2585276" cy="40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BE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Week 6–9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4861541" y="5577592"/>
            <a:ext cx="12102398" cy="999792"/>
            <a:chOff x="0" y="0"/>
            <a:chExt cx="16136531" cy="133305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6136494" cy="1333018"/>
            </a:xfrm>
            <a:custGeom>
              <a:avLst/>
              <a:gdLst/>
              <a:ahLst/>
              <a:cxnLst/>
              <a:rect r="r" b="b" t="t" l="l"/>
              <a:pathLst>
                <a:path h="1333018" w="16136494">
                  <a:moveTo>
                    <a:pt x="0" y="222128"/>
                  </a:moveTo>
                  <a:cubicBezTo>
                    <a:pt x="0" y="99449"/>
                    <a:pt x="100584" y="0"/>
                    <a:pt x="224663" y="0"/>
                  </a:cubicBezTo>
                  <a:lnTo>
                    <a:pt x="15911830" y="0"/>
                  </a:lnTo>
                  <a:cubicBezTo>
                    <a:pt x="16035910" y="0"/>
                    <a:pt x="16136494" y="99449"/>
                    <a:pt x="16136494" y="222128"/>
                  </a:cubicBezTo>
                  <a:lnTo>
                    <a:pt x="16136494" y="1110890"/>
                  </a:lnTo>
                  <a:cubicBezTo>
                    <a:pt x="16136494" y="1233569"/>
                    <a:pt x="16035910" y="1333018"/>
                    <a:pt x="15911830" y="1333018"/>
                  </a:cubicBezTo>
                  <a:lnTo>
                    <a:pt x="224663" y="1333018"/>
                  </a:lnTo>
                  <a:cubicBezTo>
                    <a:pt x="100584" y="1333018"/>
                    <a:pt x="0" y="1233569"/>
                    <a:pt x="0" y="1110890"/>
                  </a:cubicBezTo>
                  <a:close/>
                </a:path>
              </a:pathLst>
            </a:custGeom>
            <a:solidFill>
              <a:srgbClr val="FAFAFA"/>
            </a:solidFill>
            <a:ln w="22878" cap="sq">
              <a:solidFill>
                <a:srgbClr val="BE0000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5124602" y="5558542"/>
            <a:ext cx="11576275" cy="40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BE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Milestone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124602" y="6162513"/>
            <a:ext cx="11576275" cy="6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 Java implementation, sorting/searching &amp; mid-term review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361237" y="6842736"/>
            <a:ext cx="3111389" cy="1011203"/>
            <a:chOff x="0" y="0"/>
            <a:chExt cx="4148518" cy="134827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148455" cy="1348232"/>
            </a:xfrm>
            <a:custGeom>
              <a:avLst/>
              <a:gdLst/>
              <a:ahLst/>
              <a:cxnLst/>
              <a:rect r="r" b="b" t="t" l="l"/>
              <a:pathLst>
                <a:path h="1348232" w="4148455">
                  <a:moveTo>
                    <a:pt x="0" y="224663"/>
                  </a:moveTo>
                  <a:cubicBezTo>
                    <a:pt x="0" y="100584"/>
                    <a:pt x="100584" y="0"/>
                    <a:pt x="224663" y="0"/>
                  </a:cubicBezTo>
                  <a:lnTo>
                    <a:pt x="3923792" y="0"/>
                  </a:lnTo>
                  <a:cubicBezTo>
                    <a:pt x="4047871" y="0"/>
                    <a:pt x="4148455" y="100584"/>
                    <a:pt x="4148455" y="224663"/>
                  </a:cubicBezTo>
                  <a:lnTo>
                    <a:pt x="4148455" y="1123569"/>
                  </a:lnTo>
                  <a:cubicBezTo>
                    <a:pt x="4148455" y="1247648"/>
                    <a:pt x="4047871" y="1348232"/>
                    <a:pt x="3923792" y="1348232"/>
                  </a:cubicBezTo>
                  <a:lnTo>
                    <a:pt x="224663" y="1348232"/>
                  </a:lnTo>
                  <a:cubicBezTo>
                    <a:pt x="100584" y="1348232"/>
                    <a:pt x="0" y="1247648"/>
                    <a:pt x="0" y="1123569"/>
                  </a:cubicBezTo>
                  <a:close/>
                </a:path>
              </a:pathLst>
            </a:custGeom>
            <a:solidFill>
              <a:srgbClr val="FAFAFA"/>
            </a:solidFill>
            <a:ln w="22878" cap="sq">
              <a:solidFill>
                <a:srgbClr val="1E375F"/>
              </a:solidFill>
              <a:prstDash val="solid"/>
              <a:miter/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1624293" y="7043356"/>
            <a:ext cx="2585276" cy="40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1E375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Week 10–12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4861550" y="6842736"/>
            <a:ext cx="12102398" cy="1011203"/>
            <a:chOff x="0" y="0"/>
            <a:chExt cx="16136531" cy="134827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6136494" cy="1348232"/>
            </a:xfrm>
            <a:custGeom>
              <a:avLst/>
              <a:gdLst/>
              <a:ahLst/>
              <a:cxnLst/>
              <a:rect r="r" b="b" t="t" l="l"/>
              <a:pathLst>
                <a:path h="1348232" w="16136494">
                  <a:moveTo>
                    <a:pt x="0" y="224663"/>
                  </a:moveTo>
                  <a:cubicBezTo>
                    <a:pt x="0" y="100584"/>
                    <a:pt x="100584" y="0"/>
                    <a:pt x="224663" y="0"/>
                  </a:cubicBezTo>
                  <a:lnTo>
                    <a:pt x="15911830" y="0"/>
                  </a:lnTo>
                  <a:cubicBezTo>
                    <a:pt x="16035910" y="0"/>
                    <a:pt x="16136494" y="100584"/>
                    <a:pt x="16136494" y="224663"/>
                  </a:cubicBezTo>
                  <a:lnTo>
                    <a:pt x="16136494" y="1123569"/>
                  </a:lnTo>
                  <a:cubicBezTo>
                    <a:pt x="16136494" y="1247648"/>
                    <a:pt x="16035910" y="1348232"/>
                    <a:pt x="15911830" y="1348232"/>
                  </a:cubicBezTo>
                  <a:lnTo>
                    <a:pt x="224663" y="1348232"/>
                  </a:lnTo>
                  <a:cubicBezTo>
                    <a:pt x="100584" y="1348232"/>
                    <a:pt x="0" y="1247648"/>
                    <a:pt x="0" y="1123569"/>
                  </a:cubicBezTo>
                  <a:close/>
                </a:path>
              </a:pathLst>
            </a:custGeom>
            <a:solidFill>
              <a:srgbClr val="FAFAFA"/>
            </a:solidFill>
            <a:ln w="22878" cap="sq">
              <a:solidFill>
                <a:srgbClr val="1E375F"/>
              </a:solidFill>
              <a:prstDash val="solid"/>
              <a:miter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5124612" y="6917122"/>
            <a:ext cx="11576275" cy="40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1E375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Milestone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124602" y="7329287"/>
            <a:ext cx="11576275" cy="6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Testing, debugging &amp; result analysis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361237" y="8032423"/>
            <a:ext cx="3111389" cy="1011203"/>
            <a:chOff x="0" y="0"/>
            <a:chExt cx="4148518" cy="134827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148455" cy="1348232"/>
            </a:xfrm>
            <a:custGeom>
              <a:avLst/>
              <a:gdLst/>
              <a:ahLst/>
              <a:cxnLst/>
              <a:rect r="r" b="b" t="t" l="l"/>
              <a:pathLst>
                <a:path h="1348232" w="4148455">
                  <a:moveTo>
                    <a:pt x="0" y="224663"/>
                  </a:moveTo>
                  <a:cubicBezTo>
                    <a:pt x="0" y="100584"/>
                    <a:pt x="100584" y="0"/>
                    <a:pt x="224663" y="0"/>
                  </a:cubicBezTo>
                  <a:lnTo>
                    <a:pt x="3923792" y="0"/>
                  </a:lnTo>
                  <a:cubicBezTo>
                    <a:pt x="4047871" y="0"/>
                    <a:pt x="4148455" y="100584"/>
                    <a:pt x="4148455" y="224663"/>
                  </a:cubicBezTo>
                  <a:lnTo>
                    <a:pt x="4148455" y="1123569"/>
                  </a:lnTo>
                  <a:cubicBezTo>
                    <a:pt x="4148455" y="1247648"/>
                    <a:pt x="4047871" y="1348232"/>
                    <a:pt x="3923792" y="1348232"/>
                  </a:cubicBezTo>
                  <a:lnTo>
                    <a:pt x="224663" y="1348232"/>
                  </a:lnTo>
                  <a:cubicBezTo>
                    <a:pt x="100584" y="1348232"/>
                    <a:pt x="0" y="1247648"/>
                    <a:pt x="0" y="1123569"/>
                  </a:cubicBezTo>
                  <a:close/>
                </a:path>
              </a:pathLst>
            </a:custGeom>
            <a:solidFill>
              <a:srgbClr val="FAFAFA"/>
            </a:solidFill>
            <a:ln w="22878" cap="sq">
              <a:solidFill>
                <a:srgbClr val="BE0000"/>
              </a:solidFill>
              <a:prstDash val="solid"/>
              <a:miter/>
            </a:ln>
          </p:spPr>
        </p:sp>
      </p:grpSp>
      <p:sp>
        <p:nvSpPr>
          <p:cNvPr name="TextBox 37" id="37"/>
          <p:cNvSpPr txBox="true"/>
          <p:nvPr/>
        </p:nvSpPr>
        <p:spPr>
          <a:xfrm rot="0">
            <a:off x="1624289" y="8347391"/>
            <a:ext cx="2585276" cy="40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BE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Week 13–14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4861550" y="8032423"/>
            <a:ext cx="12102398" cy="1011203"/>
            <a:chOff x="0" y="0"/>
            <a:chExt cx="16136531" cy="134827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6136494" cy="1348232"/>
            </a:xfrm>
            <a:custGeom>
              <a:avLst/>
              <a:gdLst/>
              <a:ahLst/>
              <a:cxnLst/>
              <a:rect r="r" b="b" t="t" l="l"/>
              <a:pathLst>
                <a:path h="1348232" w="16136494">
                  <a:moveTo>
                    <a:pt x="0" y="224663"/>
                  </a:moveTo>
                  <a:cubicBezTo>
                    <a:pt x="0" y="100584"/>
                    <a:pt x="100584" y="0"/>
                    <a:pt x="224663" y="0"/>
                  </a:cubicBezTo>
                  <a:lnTo>
                    <a:pt x="15911830" y="0"/>
                  </a:lnTo>
                  <a:cubicBezTo>
                    <a:pt x="16035910" y="0"/>
                    <a:pt x="16136494" y="100584"/>
                    <a:pt x="16136494" y="224663"/>
                  </a:cubicBezTo>
                  <a:lnTo>
                    <a:pt x="16136494" y="1123569"/>
                  </a:lnTo>
                  <a:cubicBezTo>
                    <a:pt x="16136494" y="1247648"/>
                    <a:pt x="16035910" y="1348232"/>
                    <a:pt x="15911830" y="1348232"/>
                  </a:cubicBezTo>
                  <a:lnTo>
                    <a:pt x="224663" y="1348232"/>
                  </a:lnTo>
                  <a:cubicBezTo>
                    <a:pt x="100584" y="1348232"/>
                    <a:pt x="0" y="1247648"/>
                    <a:pt x="0" y="1123569"/>
                  </a:cubicBezTo>
                  <a:close/>
                </a:path>
              </a:pathLst>
            </a:custGeom>
            <a:solidFill>
              <a:srgbClr val="FAFAFA"/>
            </a:solidFill>
            <a:ln w="22878" cap="sq">
              <a:solidFill>
                <a:srgbClr val="BE0000"/>
              </a:solidFill>
              <a:prstDash val="solid"/>
              <a:miter/>
            </a:ln>
          </p:spPr>
        </p:sp>
      </p:grpSp>
      <p:sp>
        <p:nvSpPr>
          <p:cNvPr name="TextBox 40" id="40"/>
          <p:cNvSpPr txBox="true"/>
          <p:nvPr/>
        </p:nvSpPr>
        <p:spPr>
          <a:xfrm rot="0">
            <a:off x="5124602" y="8083887"/>
            <a:ext cx="11576275" cy="40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BE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Milestone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124602" y="8496062"/>
            <a:ext cx="11576275" cy="6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report, presentation/poster &amp; final viva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DAHRbwXip0U</dc:identifier>
  <dcterms:modified xsi:type="dcterms:W3CDTF">2011-08-01T06:04:30Z</dcterms:modified>
  <cp:revision>1</cp:revision>
  <dc:title>Price Volatility </dc:title>
</cp:coreProperties>
</file>